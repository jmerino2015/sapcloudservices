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4.jpg" ContentType="image/jpg"/>
  <Override PartName="/ppt/media/image3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9" r:id="rId5"/>
    <p:sldId id="276" r:id="rId16"/>
    <p:sldId id="277" r:id="rId17"/>
    <p:sldId id="278" r:id="rId18"/>
    <p:sldId id="279" r:id="rId19"/>
    <p:sldId id="280" r:id="rId20"/>
    <p:sldId id="270" r:id="rId6"/>
    <p:sldId id="271" r:id="rId8"/>
    <p:sldId id="27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30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4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0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8853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jpg"/><Relationship Id="rId25" Type="http://schemas.openxmlformats.org/officeDocument/2006/relationships/image" Target="../media/image30.jpg"/><Relationship Id="rId26" Type="http://schemas.openxmlformats.org/officeDocument/2006/relationships/image" Target="../media/image31.jpg"/><Relationship Id="rId27" Type="http://schemas.openxmlformats.org/officeDocument/2006/relationships/image" Target="../media/image32.jpg"/><Relationship Id="rId28" Type="http://schemas.openxmlformats.org/officeDocument/2006/relationships/image" Target="../media/image33.png"/><Relationship Id="rId29" Type="http://schemas.openxmlformats.org/officeDocument/2006/relationships/image" Target="../media/image34.jpg"/><Relationship Id="rId30" Type="http://schemas.openxmlformats.org/officeDocument/2006/relationships/image" Target="../media/image35.png"/><Relationship Id="rId31" Type="http://schemas.openxmlformats.org/officeDocument/2006/relationships/image" Target="../media/image36.jpg"/><Relationship Id="rId32" Type="http://schemas.openxmlformats.org/officeDocument/2006/relationships/image" Target="../media/image37.png"/><Relationship Id="rId33" Type="http://schemas.openxmlformats.org/officeDocument/2006/relationships/image" Target="../media/image38.png"/><Relationship Id="rId34" Type="http://schemas.openxmlformats.org/officeDocument/2006/relationships/image" Target="../media/image3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55.png"/><Relationship Id="rId17" Type="http://schemas.openxmlformats.org/officeDocument/2006/relationships/image" Target="../media/image69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55.png"/><Relationship Id="rId19" Type="http://schemas.openxmlformats.org/officeDocument/2006/relationships/image" Target="../media/image1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Relationship Id="rId4" Type="http://schemas.openxmlformats.org/officeDocument/2006/relationships/image" Target="../media/image55.png"/><Relationship Id="rId5" Type="http://schemas.openxmlformats.org/officeDocument/2006/relationships/image" Target="../media/image8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55.png"/><Relationship Id="rId10" Type="http://schemas.openxmlformats.org/officeDocument/2006/relationships/image" Target="../media/image1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55.png"/><Relationship Id="rId22" Type="http://schemas.openxmlformats.org/officeDocument/2006/relationships/image" Target="../media/image10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69.jpe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55.png"/><Relationship Id="rId10" Type="http://schemas.openxmlformats.org/officeDocument/2006/relationships/image" Target="../media/image59.png"/><Relationship Id="rId11" Type="http://schemas.openxmlformats.org/officeDocument/2006/relationships/image" Target="../media/image64.png"/><Relationship Id="rId12" Type="http://schemas.openxmlformats.org/officeDocument/2006/relationships/image" Target="../media/image58.png"/><Relationship Id="rId13" Type="http://schemas.openxmlformats.org/officeDocument/2006/relationships/image" Target="../media/image68.png"/><Relationship Id="rId14" Type="http://schemas.openxmlformats.org/officeDocument/2006/relationships/image" Target="../media/image63.png"/><Relationship Id="rId15" Type="http://schemas.openxmlformats.org/officeDocument/2006/relationships/image" Target="../media/image57.png"/><Relationship Id="rId16" Type="http://schemas.openxmlformats.org/officeDocument/2006/relationships/image" Target="../media/image62.png"/><Relationship Id="rId17" Type="http://schemas.openxmlformats.org/officeDocument/2006/relationships/image" Target="../media/image6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69.jpe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55.png"/><Relationship Id="rId10" Type="http://schemas.openxmlformats.org/officeDocument/2006/relationships/image" Target="../media/image59.png"/><Relationship Id="rId11" Type="http://schemas.openxmlformats.org/officeDocument/2006/relationships/image" Target="../media/image64.png"/><Relationship Id="rId12" Type="http://schemas.openxmlformats.org/officeDocument/2006/relationships/image" Target="../media/image58.png"/><Relationship Id="rId13" Type="http://schemas.openxmlformats.org/officeDocument/2006/relationships/image" Target="../media/image68.png"/><Relationship Id="rId14" Type="http://schemas.openxmlformats.org/officeDocument/2006/relationships/image" Target="../media/image63.png"/><Relationship Id="rId15" Type="http://schemas.openxmlformats.org/officeDocument/2006/relationships/image" Target="../media/image57.png"/><Relationship Id="rId16" Type="http://schemas.openxmlformats.org/officeDocument/2006/relationships/image" Target="../media/image62.png"/><Relationship Id="rId17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69.jpe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55.png"/><Relationship Id="rId10" Type="http://schemas.openxmlformats.org/officeDocument/2006/relationships/image" Target="../media/image59.png"/><Relationship Id="rId11" Type="http://schemas.openxmlformats.org/officeDocument/2006/relationships/image" Target="../media/image64.png"/><Relationship Id="rId12" Type="http://schemas.openxmlformats.org/officeDocument/2006/relationships/image" Target="../media/image58.png"/><Relationship Id="rId13" Type="http://schemas.openxmlformats.org/officeDocument/2006/relationships/image" Target="../media/image68.png"/><Relationship Id="rId14" Type="http://schemas.openxmlformats.org/officeDocument/2006/relationships/image" Target="../media/image63.png"/><Relationship Id="rId15" Type="http://schemas.openxmlformats.org/officeDocument/2006/relationships/image" Target="../media/image57.png"/><Relationship Id="rId16" Type="http://schemas.openxmlformats.org/officeDocument/2006/relationships/image" Target="../media/image62.png"/><Relationship Id="rId17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69.jpe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55.png"/><Relationship Id="rId10" Type="http://schemas.openxmlformats.org/officeDocument/2006/relationships/image" Target="../media/image59.png"/><Relationship Id="rId11" Type="http://schemas.openxmlformats.org/officeDocument/2006/relationships/image" Target="../media/image64.png"/><Relationship Id="rId12" Type="http://schemas.openxmlformats.org/officeDocument/2006/relationships/image" Target="../media/image58.png"/><Relationship Id="rId13" Type="http://schemas.openxmlformats.org/officeDocument/2006/relationships/image" Target="../media/image68.png"/><Relationship Id="rId14" Type="http://schemas.openxmlformats.org/officeDocument/2006/relationships/image" Target="../media/image63.png"/><Relationship Id="rId15" Type="http://schemas.openxmlformats.org/officeDocument/2006/relationships/image" Target="../media/image57.png"/><Relationship Id="rId16" Type="http://schemas.openxmlformats.org/officeDocument/2006/relationships/image" Target="../media/image62.png"/><Relationship Id="rId17" Type="http://schemas.openxmlformats.org/officeDocument/2006/relationships/image" Target="../media/image6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69.jpeg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55.png"/><Relationship Id="rId10" Type="http://schemas.openxmlformats.org/officeDocument/2006/relationships/image" Target="../media/image59.png"/><Relationship Id="rId11" Type="http://schemas.openxmlformats.org/officeDocument/2006/relationships/image" Target="../media/image64.png"/><Relationship Id="rId12" Type="http://schemas.openxmlformats.org/officeDocument/2006/relationships/image" Target="../media/image58.png"/><Relationship Id="rId13" Type="http://schemas.openxmlformats.org/officeDocument/2006/relationships/image" Target="../media/image68.png"/><Relationship Id="rId14" Type="http://schemas.openxmlformats.org/officeDocument/2006/relationships/image" Target="../media/image63.png"/><Relationship Id="rId15" Type="http://schemas.openxmlformats.org/officeDocument/2006/relationships/image" Target="../media/image57.png"/><Relationship Id="rId16" Type="http://schemas.openxmlformats.org/officeDocument/2006/relationships/image" Target="../media/image62.png"/><Relationship Id="rId17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87000" y="-476402"/>
            <a:ext cx="2857500" cy="2857500"/>
          </a:xfrm>
          <a:prstGeom prst="ellipse">
            <a:avLst/>
          </a:prstGeom>
          <a:solidFill>
            <a:srgbClr val="189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952805" y="4762195"/>
            <a:ext cx="2381098" cy="2381098"/>
          </a:xfrm>
          <a:prstGeom prst="ellipse">
            <a:avLst/>
          </a:prstGeom>
          <a:solidFill>
            <a:srgbClr val="1890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638418" y="4481024"/>
            <a:ext cx="1371296" cy="1215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2667305"/>
            <a:ext cx="12191695" cy="13331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12" r="-412"/>
          <a:stretch/>
        </p:blipFill>
        <p:spPr>
          <a:xfrm>
            <a:off x="761695" y="2667305"/>
            <a:ext cx="57607" cy="13331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0" y="6019495"/>
            <a:ext cx="12191695" cy="838505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 txBox="1"/>
          <p:nvPr/>
        </p:nvSpPr>
        <p:spPr>
          <a:xfrm>
            <a:off x="761695" y="571500"/>
            <a:ext cx="8744407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endParaRPr lang="en-US" sz="4200" dirty="0"/>
          </a:p>
          <a:p>
            <a:pPr marL="0" indent="0" algn="l">
              <a:buNone/>
            </a:pPr>
            <a:r>
              <a:t>SAP S/4HANA &amp; FIORI HORIZONS</a:t>
            </a:r>
            <a:endParaRPr lang="en-US" sz="420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3000146"/>
            <a:ext cx="77349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LOCALIZACIÓN PERÚ &amp; COMPLIANCE </a:t>
            </a:r>
          </a:p>
        </p:txBody>
      </p:sp>
      <p:sp>
        <p:nvSpPr>
          <p:cNvPr id="13" name="Shape 8"/>
          <p:cNvSpPr/>
          <p:nvPr/>
        </p:nvSpPr>
        <p:spPr>
          <a:xfrm>
            <a:off x="1047902" y="5143500"/>
            <a:ext cx="38405" cy="55229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1276502" y="5143500"/>
            <a:ext cx="8429854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Suite Integral de Cumplimiento Normativo SUNAT (PLE &amp; SIRE) y Automatización Bancaria Host to Web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68426" y="6324905"/>
            <a:ext cx="2209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www.droidconsultingti.com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05" y="6334049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926373" y="6324905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comercialdc@droidconsulting.org 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58600" y="6334049"/>
            <a:ext cx="152705" cy="152705"/>
          </a:xfrm>
          <a:prstGeom prst="rect">
            <a:avLst/>
          </a:prstGeom>
        </p:spPr>
      </p:pic>
      <p:pic>
        <p:nvPicPr>
          <p:cNvPr id="20" name="object 23">
            <a:extLst>
              <a:ext uri="{FF2B5EF4-FFF2-40B4-BE49-F238E27FC236}">
                <a16:creationId xmlns:a16="http://schemas.microsoft.com/office/drawing/2014/main" id="{293046C6-9772-47B2-9A7F-A9D72F2323F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8215" y="76200"/>
            <a:ext cx="3265931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702" y="142113"/>
            <a:ext cx="27717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Quiénes</a:t>
            </a:r>
            <a:r>
              <a:rPr spc="-55" dirty="0"/>
              <a:t> </a:t>
            </a:r>
            <a:r>
              <a:rPr spc="90" dirty="0"/>
              <a:t>somos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702" y="641984"/>
            <a:ext cx="37642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Expertos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en</a:t>
            </a:r>
            <a:r>
              <a:rPr sz="1500" spc="-6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transformación</a:t>
            </a:r>
            <a:r>
              <a:rPr sz="1500" spc="-5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digital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92C5FC"/>
                </a:solidFill>
                <a:latin typeface="Verdana"/>
                <a:cs typeface="Verdana"/>
              </a:rPr>
              <a:t>SAP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925" y="1349959"/>
            <a:ext cx="3989070" cy="1560195"/>
            <a:chOff x="226925" y="1349959"/>
            <a:chExt cx="3989070" cy="156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5" y="1349959"/>
              <a:ext cx="3988608" cy="15596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6324" y="1391411"/>
              <a:ext cx="3839210" cy="1409700"/>
            </a:xfrm>
            <a:custGeom>
              <a:avLst/>
              <a:gdLst/>
              <a:ahLst/>
              <a:cxnLst/>
              <a:rect l="l" t="t" r="r" b="b"/>
              <a:pathLst>
                <a:path w="3839210" h="1409700">
                  <a:moveTo>
                    <a:pt x="3789553" y="0"/>
                  </a:moveTo>
                  <a:lnTo>
                    <a:pt x="49415" y="0"/>
                  </a:lnTo>
                  <a:lnTo>
                    <a:pt x="30180" y="3879"/>
                  </a:lnTo>
                  <a:lnTo>
                    <a:pt x="14473" y="14462"/>
                  </a:lnTo>
                  <a:lnTo>
                    <a:pt x="3883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83" y="1379535"/>
                  </a:lnTo>
                  <a:lnTo>
                    <a:pt x="14473" y="1395237"/>
                  </a:lnTo>
                  <a:lnTo>
                    <a:pt x="30180" y="1405820"/>
                  </a:lnTo>
                  <a:lnTo>
                    <a:pt x="49415" y="1409700"/>
                  </a:lnTo>
                  <a:lnTo>
                    <a:pt x="3789553" y="1409700"/>
                  </a:lnTo>
                  <a:lnTo>
                    <a:pt x="3808791" y="1405820"/>
                  </a:lnTo>
                  <a:lnTo>
                    <a:pt x="3824493" y="1395237"/>
                  </a:lnTo>
                  <a:lnTo>
                    <a:pt x="3835076" y="1379535"/>
                  </a:lnTo>
                  <a:lnTo>
                    <a:pt x="3838955" y="1360297"/>
                  </a:lnTo>
                  <a:lnTo>
                    <a:pt x="3838955" y="49402"/>
                  </a:lnTo>
                  <a:lnTo>
                    <a:pt x="3835076" y="30164"/>
                  </a:lnTo>
                  <a:lnTo>
                    <a:pt x="3824493" y="14462"/>
                  </a:lnTo>
                  <a:lnTo>
                    <a:pt x="3808791" y="3879"/>
                  </a:lnTo>
                  <a:lnTo>
                    <a:pt x="3789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6324" y="1391411"/>
              <a:ext cx="38100" cy="1409700"/>
            </a:xfrm>
            <a:custGeom>
              <a:avLst/>
              <a:gdLst/>
              <a:ahLst/>
              <a:cxnLst/>
              <a:rect l="l" t="t" r="r" b="b"/>
              <a:pathLst>
                <a:path w="38100" h="1409700">
                  <a:moveTo>
                    <a:pt x="381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8100" y="14097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924" y="1580387"/>
              <a:ext cx="219710" cy="477520"/>
            </a:xfrm>
            <a:custGeom>
              <a:avLst/>
              <a:gdLst/>
              <a:ahLst/>
              <a:cxnLst/>
              <a:rect l="l" t="t" r="r" b="b"/>
              <a:pathLst>
                <a:path w="219709" h="477519">
                  <a:moveTo>
                    <a:pt x="109728" y="0"/>
                  </a:moveTo>
                  <a:lnTo>
                    <a:pt x="54344" y="32568"/>
                  </a:lnTo>
                  <a:lnTo>
                    <a:pt x="32137" y="69865"/>
                  </a:lnTo>
                  <a:lnTo>
                    <a:pt x="14980" y="118138"/>
                  </a:lnTo>
                  <a:lnTo>
                    <a:pt x="3919" y="175110"/>
                  </a:lnTo>
                  <a:lnTo>
                    <a:pt x="0" y="238506"/>
                  </a:lnTo>
                  <a:lnTo>
                    <a:pt x="3919" y="301901"/>
                  </a:lnTo>
                  <a:lnTo>
                    <a:pt x="14980" y="358873"/>
                  </a:lnTo>
                  <a:lnTo>
                    <a:pt x="32137" y="407146"/>
                  </a:lnTo>
                  <a:lnTo>
                    <a:pt x="54344" y="444443"/>
                  </a:lnTo>
                  <a:lnTo>
                    <a:pt x="109728" y="477012"/>
                  </a:lnTo>
                  <a:lnTo>
                    <a:pt x="138899" y="468490"/>
                  </a:lnTo>
                  <a:lnTo>
                    <a:pt x="187318" y="407146"/>
                  </a:lnTo>
                  <a:lnTo>
                    <a:pt x="204475" y="358873"/>
                  </a:lnTo>
                  <a:lnTo>
                    <a:pt x="215536" y="301901"/>
                  </a:lnTo>
                  <a:lnTo>
                    <a:pt x="219456" y="238506"/>
                  </a:lnTo>
                  <a:lnTo>
                    <a:pt x="215536" y="175110"/>
                  </a:lnTo>
                  <a:lnTo>
                    <a:pt x="204475" y="118138"/>
                  </a:lnTo>
                  <a:lnTo>
                    <a:pt x="187318" y="69865"/>
                  </a:lnTo>
                  <a:lnTo>
                    <a:pt x="165111" y="32568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5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329562" y="1349959"/>
            <a:ext cx="4028440" cy="1560195"/>
            <a:chOff x="4329562" y="1349959"/>
            <a:chExt cx="4028440" cy="15601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9562" y="1349959"/>
              <a:ext cx="4028175" cy="15596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08932" y="1391411"/>
              <a:ext cx="3878579" cy="1409700"/>
            </a:xfrm>
            <a:custGeom>
              <a:avLst/>
              <a:gdLst/>
              <a:ahLst/>
              <a:cxnLst/>
              <a:rect l="l" t="t" r="r" b="b"/>
              <a:pathLst>
                <a:path w="3878579" h="1409700">
                  <a:moveTo>
                    <a:pt x="3829176" y="0"/>
                  </a:moveTo>
                  <a:lnTo>
                    <a:pt x="49402" y="0"/>
                  </a:lnTo>
                  <a:lnTo>
                    <a:pt x="30164" y="3879"/>
                  </a:lnTo>
                  <a:lnTo>
                    <a:pt x="14462" y="14462"/>
                  </a:lnTo>
                  <a:lnTo>
                    <a:pt x="3879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79" y="1379535"/>
                  </a:lnTo>
                  <a:lnTo>
                    <a:pt x="14462" y="1395237"/>
                  </a:lnTo>
                  <a:lnTo>
                    <a:pt x="30164" y="1405820"/>
                  </a:lnTo>
                  <a:lnTo>
                    <a:pt x="49402" y="1409700"/>
                  </a:lnTo>
                  <a:lnTo>
                    <a:pt x="3829176" y="1409700"/>
                  </a:lnTo>
                  <a:lnTo>
                    <a:pt x="3848415" y="1405820"/>
                  </a:lnTo>
                  <a:lnTo>
                    <a:pt x="3864117" y="1395237"/>
                  </a:lnTo>
                  <a:lnTo>
                    <a:pt x="3874700" y="1379535"/>
                  </a:lnTo>
                  <a:lnTo>
                    <a:pt x="3878579" y="1360297"/>
                  </a:lnTo>
                  <a:lnTo>
                    <a:pt x="3878579" y="49402"/>
                  </a:lnTo>
                  <a:lnTo>
                    <a:pt x="3874700" y="30164"/>
                  </a:lnTo>
                  <a:lnTo>
                    <a:pt x="3864117" y="14462"/>
                  </a:lnTo>
                  <a:lnTo>
                    <a:pt x="3848415" y="3879"/>
                  </a:lnTo>
                  <a:lnTo>
                    <a:pt x="3829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08932" y="1391411"/>
              <a:ext cx="40005" cy="1409700"/>
            </a:xfrm>
            <a:custGeom>
              <a:avLst/>
              <a:gdLst/>
              <a:ahLst/>
              <a:cxnLst/>
              <a:rect l="l" t="t" r="r" b="b"/>
              <a:pathLst>
                <a:path w="40004" h="1409700">
                  <a:moveTo>
                    <a:pt x="39624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9624" y="14097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37531" y="1580387"/>
              <a:ext cx="210820" cy="477520"/>
            </a:xfrm>
            <a:custGeom>
              <a:avLst/>
              <a:gdLst/>
              <a:ahLst/>
              <a:cxnLst/>
              <a:rect l="l" t="t" r="r" b="b"/>
              <a:pathLst>
                <a:path w="210820" h="477519">
                  <a:moveTo>
                    <a:pt x="105155" y="0"/>
                  </a:moveTo>
                  <a:lnTo>
                    <a:pt x="52098" y="32568"/>
                  </a:lnTo>
                  <a:lnTo>
                    <a:pt x="30813" y="69865"/>
                  </a:lnTo>
                  <a:lnTo>
                    <a:pt x="14365" y="118138"/>
                  </a:lnTo>
                  <a:lnTo>
                    <a:pt x="3758" y="175110"/>
                  </a:lnTo>
                  <a:lnTo>
                    <a:pt x="0" y="238506"/>
                  </a:lnTo>
                  <a:lnTo>
                    <a:pt x="3758" y="301901"/>
                  </a:lnTo>
                  <a:lnTo>
                    <a:pt x="14365" y="358873"/>
                  </a:lnTo>
                  <a:lnTo>
                    <a:pt x="30813" y="407146"/>
                  </a:lnTo>
                  <a:lnTo>
                    <a:pt x="52098" y="444443"/>
                  </a:lnTo>
                  <a:lnTo>
                    <a:pt x="105155" y="477012"/>
                  </a:lnTo>
                  <a:lnTo>
                    <a:pt x="133097" y="468490"/>
                  </a:lnTo>
                  <a:lnTo>
                    <a:pt x="179498" y="407146"/>
                  </a:lnTo>
                  <a:lnTo>
                    <a:pt x="195946" y="358873"/>
                  </a:lnTo>
                  <a:lnTo>
                    <a:pt x="206553" y="301901"/>
                  </a:lnTo>
                  <a:lnTo>
                    <a:pt x="210312" y="238506"/>
                  </a:lnTo>
                  <a:lnTo>
                    <a:pt x="206553" y="175110"/>
                  </a:lnTo>
                  <a:lnTo>
                    <a:pt x="195946" y="118138"/>
                  </a:lnTo>
                  <a:lnTo>
                    <a:pt x="179498" y="69865"/>
                  </a:lnTo>
                  <a:lnTo>
                    <a:pt x="158213" y="32568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6676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26925" y="3130174"/>
            <a:ext cx="3989070" cy="1750060"/>
            <a:chOff x="226925" y="3130174"/>
            <a:chExt cx="3989070" cy="175006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925" y="3130174"/>
              <a:ext cx="3988608" cy="17497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6324" y="3171443"/>
              <a:ext cx="3839210" cy="1600200"/>
            </a:xfrm>
            <a:custGeom>
              <a:avLst/>
              <a:gdLst/>
              <a:ahLst/>
              <a:cxnLst/>
              <a:rect l="l" t="t" r="r" b="b"/>
              <a:pathLst>
                <a:path w="3839210" h="1600200">
                  <a:moveTo>
                    <a:pt x="3795395" y="0"/>
                  </a:moveTo>
                  <a:lnTo>
                    <a:pt x="43535" y="0"/>
                  </a:lnTo>
                  <a:lnTo>
                    <a:pt x="26590" y="3413"/>
                  </a:lnTo>
                  <a:lnTo>
                    <a:pt x="12752" y="12731"/>
                  </a:lnTo>
                  <a:lnTo>
                    <a:pt x="3421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21" y="1573625"/>
                  </a:lnTo>
                  <a:lnTo>
                    <a:pt x="12752" y="1587468"/>
                  </a:lnTo>
                  <a:lnTo>
                    <a:pt x="26590" y="1596786"/>
                  </a:lnTo>
                  <a:lnTo>
                    <a:pt x="43535" y="1600199"/>
                  </a:lnTo>
                  <a:lnTo>
                    <a:pt x="3795395" y="1600199"/>
                  </a:lnTo>
                  <a:lnTo>
                    <a:pt x="3812381" y="1596786"/>
                  </a:lnTo>
                  <a:lnTo>
                    <a:pt x="3826224" y="1587468"/>
                  </a:lnTo>
                  <a:lnTo>
                    <a:pt x="3835542" y="1573625"/>
                  </a:lnTo>
                  <a:lnTo>
                    <a:pt x="3838955" y="1556638"/>
                  </a:lnTo>
                  <a:lnTo>
                    <a:pt x="3838955" y="43560"/>
                  </a:lnTo>
                  <a:lnTo>
                    <a:pt x="3835542" y="26574"/>
                  </a:lnTo>
                  <a:lnTo>
                    <a:pt x="3826224" y="12731"/>
                  </a:lnTo>
                  <a:lnTo>
                    <a:pt x="3812381" y="3413"/>
                  </a:lnTo>
                  <a:lnTo>
                    <a:pt x="3795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324" y="3171443"/>
              <a:ext cx="38100" cy="1600200"/>
            </a:xfrm>
            <a:custGeom>
              <a:avLst/>
              <a:gdLst/>
              <a:ahLst/>
              <a:cxnLst/>
              <a:rect l="l" t="t" r="r" b="b"/>
              <a:pathLst>
                <a:path w="38100" h="1600200">
                  <a:moveTo>
                    <a:pt x="3810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8100" y="1600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924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506" y="0"/>
                  </a:moveTo>
                  <a:lnTo>
                    <a:pt x="190438" y="4846"/>
                  </a:lnTo>
                  <a:lnTo>
                    <a:pt x="145668" y="18746"/>
                  </a:lnTo>
                  <a:lnTo>
                    <a:pt x="105154" y="40739"/>
                  </a:lnTo>
                  <a:lnTo>
                    <a:pt x="69856" y="69865"/>
                  </a:lnTo>
                  <a:lnTo>
                    <a:pt x="40732" y="105165"/>
                  </a:lnTo>
                  <a:lnTo>
                    <a:pt x="18742" y="145678"/>
                  </a:lnTo>
                  <a:lnTo>
                    <a:pt x="4845" y="190445"/>
                  </a:lnTo>
                  <a:lnTo>
                    <a:pt x="0" y="238505"/>
                  </a:lnTo>
                  <a:lnTo>
                    <a:pt x="4845" y="286566"/>
                  </a:lnTo>
                  <a:lnTo>
                    <a:pt x="18742" y="331333"/>
                  </a:lnTo>
                  <a:lnTo>
                    <a:pt x="40732" y="371846"/>
                  </a:lnTo>
                  <a:lnTo>
                    <a:pt x="69856" y="407146"/>
                  </a:lnTo>
                  <a:lnTo>
                    <a:pt x="105154" y="436272"/>
                  </a:lnTo>
                  <a:lnTo>
                    <a:pt x="145668" y="458265"/>
                  </a:lnTo>
                  <a:lnTo>
                    <a:pt x="190438" y="472165"/>
                  </a:lnTo>
                  <a:lnTo>
                    <a:pt x="238506" y="477011"/>
                  </a:lnTo>
                  <a:lnTo>
                    <a:pt x="286573" y="472165"/>
                  </a:lnTo>
                  <a:lnTo>
                    <a:pt x="331343" y="458265"/>
                  </a:lnTo>
                  <a:lnTo>
                    <a:pt x="371857" y="436272"/>
                  </a:lnTo>
                  <a:lnTo>
                    <a:pt x="407155" y="407146"/>
                  </a:lnTo>
                  <a:lnTo>
                    <a:pt x="436279" y="371846"/>
                  </a:lnTo>
                  <a:lnTo>
                    <a:pt x="458269" y="331333"/>
                  </a:lnTo>
                  <a:lnTo>
                    <a:pt x="472166" y="286566"/>
                  </a:lnTo>
                  <a:lnTo>
                    <a:pt x="477012" y="238505"/>
                  </a:lnTo>
                  <a:lnTo>
                    <a:pt x="472166" y="190445"/>
                  </a:lnTo>
                  <a:lnTo>
                    <a:pt x="458269" y="145678"/>
                  </a:lnTo>
                  <a:lnTo>
                    <a:pt x="436279" y="105165"/>
                  </a:lnTo>
                  <a:lnTo>
                    <a:pt x="407155" y="69865"/>
                  </a:lnTo>
                  <a:lnTo>
                    <a:pt x="371857" y="40739"/>
                  </a:lnTo>
                  <a:lnTo>
                    <a:pt x="331343" y="18746"/>
                  </a:lnTo>
                  <a:lnTo>
                    <a:pt x="286573" y="4846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9812" y="1485233"/>
            <a:ext cx="3024505" cy="11474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500" b="1" spc="-215" dirty="0">
                <a:solidFill>
                  <a:srgbClr val="1F2937"/>
                </a:solidFill>
                <a:latin typeface="Tahoma"/>
                <a:cs typeface="Tahoma"/>
              </a:rPr>
              <a:t>10+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años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 de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experiencia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570"/>
              </a:spcBef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Somos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líderes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en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10" dirty="0">
                <a:solidFill>
                  <a:srgbClr val="4A5462"/>
                </a:solidFill>
                <a:latin typeface="Verdana"/>
                <a:cs typeface="Verdana"/>
              </a:rPr>
              <a:t>TI</a:t>
            </a:r>
            <a:r>
              <a:rPr sz="1200" spc="-5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más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de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60" dirty="0">
                <a:solidFill>
                  <a:srgbClr val="4A5462"/>
                </a:solidFill>
                <a:latin typeface="Verdana"/>
                <a:cs typeface="Verdana"/>
              </a:rPr>
              <a:t>10</a:t>
            </a:r>
            <a:r>
              <a:rPr sz="1200" spc="-6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años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impulsando</a:t>
            </a:r>
            <a:r>
              <a:rPr sz="1200" spc="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la</a:t>
            </a:r>
            <a:r>
              <a:rPr sz="1200" spc="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transformación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empresarial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especializada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en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ecosistemas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y</a:t>
            </a:r>
            <a:r>
              <a:rPr sz="1200" spc="-4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tecnologías</a:t>
            </a:r>
            <a:r>
              <a:rPr sz="1200" spc="-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cloud.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3347" y="1473803"/>
            <a:ext cx="3248660" cy="11677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Triple</a:t>
            </a:r>
            <a:r>
              <a:rPr sz="1500" b="1" spc="11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especialización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645"/>
              </a:spcBef>
            </a:pPr>
            <a:r>
              <a:t>Nuestro diferenciador único: combinamos Staffing Experto + Aceleradores de Localización S/4HANA &amp; Fiori + Automatización de Procesos Críticos de Negocio.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0416" y="3357117"/>
            <a:ext cx="2543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Certificaciones</a:t>
            </a:r>
            <a:r>
              <a:rPr sz="1500" b="1" spc="18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y</a:t>
            </a:r>
            <a:r>
              <a:rPr sz="1500" b="1" spc="1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alianzas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8180" y="3505200"/>
            <a:ext cx="2536190" cy="817244"/>
            <a:chOff x="678180" y="3505200"/>
            <a:chExt cx="2536190" cy="817244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180" y="3505200"/>
              <a:ext cx="188976" cy="190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10056" y="3723131"/>
              <a:ext cx="1530350" cy="268605"/>
            </a:xfrm>
            <a:custGeom>
              <a:avLst/>
              <a:gdLst/>
              <a:ahLst/>
              <a:cxnLst/>
              <a:rect l="l" t="t" r="r" b="b"/>
              <a:pathLst>
                <a:path w="1530350" h="268604">
                  <a:moveTo>
                    <a:pt x="638556" y="124206"/>
                  </a:moveTo>
                  <a:lnTo>
                    <a:pt x="628789" y="75869"/>
                  </a:lnTo>
                  <a:lnTo>
                    <a:pt x="602170" y="36385"/>
                  </a:lnTo>
                  <a:lnTo>
                    <a:pt x="562686" y="9766"/>
                  </a:lnTo>
                  <a:lnTo>
                    <a:pt x="514350" y="0"/>
                  </a:lnTo>
                  <a:lnTo>
                    <a:pt x="124206" y="0"/>
                  </a:lnTo>
                  <a:lnTo>
                    <a:pt x="75857" y="9766"/>
                  </a:lnTo>
                  <a:lnTo>
                    <a:pt x="36372" y="36385"/>
                  </a:lnTo>
                  <a:lnTo>
                    <a:pt x="9753" y="75869"/>
                  </a:lnTo>
                  <a:lnTo>
                    <a:pt x="0" y="124206"/>
                  </a:lnTo>
                  <a:lnTo>
                    <a:pt x="9753" y="172554"/>
                  </a:lnTo>
                  <a:lnTo>
                    <a:pt x="36372" y="212026"/>
                  </a:lnTo>
                  <a:lnTo>
                    <a:pt x="75857" y="238658"/>
                  </a:lnTo>
                  <a:lnTo>
                    <a:pt x="124206" y="248412"/>
                  </a:lnTo>
                  <a:lnTo>
                    <a:pt x="514350" y="248412"/>
                  </a:lnTo>
                  <a:lnTo>
                    <a:pt x="562686" y="238658"/>
                  </a:lnTo>
                  <a:lnTo>
                    <a:pt x="602170" y="212026"/>
                  </a:lnTo>
                  <a:lnTo>
                    <a:pt x="628789" y="172554"/>
                  </a:lnTo>
                  <a:lnTo>
                    <a:pt x="638556" y="124206"/>
                  </a:lnTo>
                  <a:close/>
                </a:path>
                <a:path w="1530350" h="268604">
                  <a:moveTo>
                    <a:pt x="1530096" y="144018"/>
                  </a:moveTo>
                  <a:lnTo>
                    <a:pt x="1520329" y="95681"/>
                  </a:lnTo>
                  <a:lnTo>
                    <a:pt x="1493697" y="56197"/>
                  </a:lnTo>
                  <a:lnTo>
                    <a:pt x="1454226" y="29578"/>
                  </a:lnTo>
                  <a:lnTo>
                    <a:pt x="1405890" y="19812"/>
                  </a:lnTo>
                  <a:lnTo>
                    <a:pt x="1034034" y="19812"/>
                  </a:lnTo>
                  <a:lnTo>
                    <a:pt x="985685" y="29578"/>
                  </a:lnTo>
                  <a:lnTo>
                    <a:pt x="946213" y="56197"/>
                  </a:lnTo>
                  <a:lnTo>
                    <a:pt x="919581" y="95681"/>
                  </a:lnTo>
                  <a:lnTo>
                    <a:pt x="909828" y="144018"/>
                  </a:lnTo>
                  <a:lnTo>
                    <a:pt x="919581" y="192366"/>
                  </a:lnTo>
                  <a:lnTo>
                    <a:pt x="946213" y="231838"/>
                  </a:lnTo>
                  <a:lnTo>
                    <a:pt x="985685" y="258470"/>
                  </a:lnTo>
                  <a:lnTo>
                    <a:pt x="1034034" y="268224"/>
                  </a:lnTo>
                  <a:lnTo>
                    <a:pt x="1405890" y="268224"/>
                  </a:lnTo>
                  <a:lnTo>
                    <a:pt x="1454226" y="258470"/>
                  </a:lnTo>
                  <a:lnTo>
                    <a:pt x="1493697" y="231838"/>
                  </a:lnTo>
                  <a:lnTo>
                    <a:pt x="1520329" y="192366"/>
                  </a:lnTo>
                  <a:lnTo>
                    <a:pt x="1530096" y="144018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6083" y="3805483"/>
              <a:ext cx="143256" cy="11411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18360" y="4073651"/>
              <a:ext cx="1096010" cy="248920"/>
            </a:xfrm>
            <a:custGeom>
              <a:avLst/>
              <a:gdLst/>
              <a:ahLst/>
              <a:cxnLst/>
              <a:rect l="l" t="t" r="r" b="b"/>
              <a:pathLst>
                <a:path w="1096010" h="248920">
                  <a:moveTo>
                    <a:pt x="971550" y="0"/>
                  </a:moveTo>
                  <a:lnTo>
                    <a:pt x="124206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6"/>
                  </a:lnTo>
                  <a:lnTo>
                    <a:pt x="9763" y="172545"/>
                  </a:lnTo>
                  <a:lnTo>
                    <a:pt x="36385" y="212026"/>
                  </a:lnTo>
                  <a:lnTo>
                    <a:pt x="75866" y="238648"/>
                  </a:lnTo>
                  <a:lnTo>
                    <a:pt x="124206" y="248412"/>
                  </a:lnTo>
                  <a:lnTo>
                    <a:pt x="971550" y="248412"/>
                  </a:lnTo>
                  <a:lnTo>
                    <a:pt x="1019889" y="238648"/>
                  </a:lnTo>
                  <a:lnTo>
                    <a:pt x="1059370" y="212026"/>
                  </a:lnTo>
                  <a:lnTo>
                    <a:pt x="1085992" y="172545"/>
                  </a:lnTo>
                  <a:lnTo>
                    <a:pt x="1095756" y="124206"/>
                  </a:lnTo>
                  <a:lnTo>
                    <a:pt x="1085992" y="75866"/>
                  </a:lnTo>
                  <a:lnTo>
                    <a:pt x="1059370" y="36385"/>
                  </a:lnTo>
                  <a:lnTo>
                    <a:pt x="1019889" y="9763"/>
                  </a:lnTo>
                  <a:lnTo>
                    <a:pt x="971550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64994" y="3776217"/>
            <a:ext cx="318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0" dirty="0">
                <a:solidFill>
                  <a:srgbClr val="1790FF"/>
                </a:solidFill>
                <a:latin typeface="Tahoma"/>
                <a:cs typeface="Tahoma"/>
              </a:rPr>
              <a:t>AWS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8796" y="3784091"/>
            <a:ext cx="100013" cy="1143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417447" y="3755897"/>
            <a:ext cx="375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Azure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61288" y="4076700"/>
            <a:ext cx="1091565" cy="247015"/>
            <a:chOff x="1161288" y="4076700"/>
            <a:chExt cx="1091565" cy="247015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7316" y="4144170"/>
              <a:ext cx="105156" cy="11032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61288" y="4076700"/>
              <a:ext cx="780415" cy="247015"/>
            </a:xfrm>
            <a:custGeom>
              <a:avLst/>
              <a:gdLst/>
              <a:ahLst/>
              <a:cxnLst/>
              <a:rect l="l" t="t" r="r" b="b"/>
              <a:pathLst>
                <a:path w="780414" h="247014">
                  <a:moveTo>
                    <a:pt x="656844" y="0"/>
                  </a:moveTo>
                  <a:lnTo>
                    <a:pt x="123443" y="0"/>
                  </a:lnTo>
                  <a:lnTo>
                    <a:pt x="75395" y="9697"/>
                  </a:lnTo>
                  <a:lnTo>
                    <a:pt x="36156" y="36147"/>
                  </a:lnTo>
                  <a:lnTo>
                    <a:pt x="9701" y="75384"/>
                  </a:lnTo>
                  <a:lnTo>
                    <a:pt x="0" y="123443"/>
                  </a:lnTo>
                  <a:lnTo>
                    <a:pt x="9701" y="171503"/>
                  </a:lnTo>
                  <a:lnTo>
                    <a:pt x="36156" y="210740"/>
                  </a:lnTo>
                  <a:lnTo>
                    <a:pt x="75395" y="237190"/>
                  </a:lnTo>
                  <a:lnTo>
                    <a:pt x="123443" y="246887"/>
                  </a:lnTo>
                  <a:lnTo>
                    <a:pt x="656844" y="246887"/>
                  </a:lnTo>
                  <a:lnTo>
                    <a:pt x="704903" y="237190"/>
                  </a:lnTo>
                  <a:lnTo>
                    <a:pt x="744140" y="210740"/>
                  </a:lnTo>
                  <a:lnTo>
                    <a:pt x="770590" y="171503"/>
                  </a:lnTo>
                  <a:lnTo>
                    <a:pt x="780288" y="123443"/>
                  </a:lnTo>
                  <a:lnTo>
                    <a:pt x="770590" y="75384"/>
                  </a:lnTo>
                  <a:lnTo>
                    <a:pt x="744140" y="36147"/>
                  </a:lnTo>
                  <a:lnTo>
                    <a:pt x="704903" y="9697"/>
                  </a:lnTo>
                  <a:lnTo>
                    <a:pt x="656844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278126" y="4114038"/>
            <a:ext cx="833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790FF"/>
                </a:solidFill>
                <a:latin typeface="Tahoma"/>
                <a:cs typeface="Tahoma"/>
              </a:rPr>
              <a:t>Google</a:t>
            </a:r>
            <a:r>
              <a:rPr sz="900" b="1" spc="155" dirty="0">
                <a:solidFill>
                  <a:srgbClr val="1790FF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Cloud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7675" y="4127047"/>
            <a:ext cx="141731" cy="114117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4329562" y="3130174"/>
            <a:ext cx="4028440" cy="1750060"/>
            <a:chOff x="4329562" y="3130174"/>
            <a:chExt cx="4028440" cy="1750060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29562" y="3130174"/>
              <a:ext cx="4028175" cy="174979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408932" y="3171443"/>
              <a:ext cx="3878579" cy="1600200"/>
            </a:xfrm>
            <a:custGeom>
              <a:avLst/>
              <a:gdLst/>
              <a:ahLst/>
              <a:cxnLst/>
              <a:rect l="l" t="t" r="r" b="b"/>
              <a:pathLst>
                <a:path w="3878579" h="1600200">
                  <a:moveTo>
                    <a:pt x="3835018" y="0"/>
                  </a:moveTo>
                  <a:lnTo>
                    <a:pt x="43560" y="0"/>
                  </a:lnTo>
                  <a:lnTo>
                    <a:pt x="26574" y="3413"/>
                  </a:lnTo>
                  <a:lnTo>
                    <a:pt x="12731" y="12731"/>
                  </a:lnTo>
                  <a:lnTo>
                    <a:pt x="3413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13" y="1573571"/>
                  </a:lnTo>
                  <a:lnTo>
                    <a:pt x="12731" y="1587420"/>
                  </a:lnTo>
                  <a:lnTo>
                    <a:pt x="26574" y="1596769"/>
                  </a:lnTo>
                  <a:lnTo>
                    <a:pt x="43560" y="1600199"/>
                  </a:lnTo>
                  <a:lnTo>
                    <a:pt x="3835018" y="1600199"/>
                  </a:lnTo>
                  <a:lnTo>
                    <a:pt x="3852005" y="1596769"/>
                  </a:lnTo>
                  <a:lnTo>
                    <a:pt x="3865848" y="1587420"/>
                  </a:lnTo>
                  <a:lnTo>
                    <a:pt x="3875166" y="1573571"/>
                  </a:lnTo>
                  <a:lnTo>
                    <a:pt x="3878579" y="1556638"/>
                  </a:lnTo>
                  <a:lnTo>
                    <a:pt x="3878579" y="43560"/>
                  </a:lnTo>
                  <a:lnTo>
                    <a:pt x="3875166" y="26574"/>
                  </a:lnTo>
                  <a:lnTo>
                    <a:pt x="3865848" y="12731"/>
                  </a:lnTo>
                  <a:lnTo>
                    <a:pt x="3852005" y="3413"/>
                  </a:lnTo>
                  <a:lnTo>
                    <a:pt x="3835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08932" y="3171443"/>
              <a:ext cx="40005" cy="1600200"/>
            </a:xfrm>
            <a:custGeom>
              <a:avLst/>
              <a:gdLst/>
              <a:ahLst/>
              <a:cxnLst/>
              <a:rect l="l" t="t" r="r" b="b"/>
              <a:pathLst>
                <a:path w="40004" h="1600200">
                  <a:moveTo>
                    <a:pt x="39624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9624" y="1600199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7531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505" y="0"/>
                  </a:moveTo>
                  <a:lnTo>
                    <a:pt x="190445" y="4846"/>
                  </a:lnTo>
                  <a:lnTo>
                    <a:pt x="145678" y="18746"/>
                  </a:lnTo>
                  <a:lnTo>
                    <a:pt x="105165" y="40739"/>
                  </a:lnTo>
                  <a:lnTo>
                    <a:pt x="69865" y="69865"/>
                  </a:lnTo>
                  <a:lnTo>
                    <a:pt x="40739" y="105165"/>
                  </a:lnTo>
                  <a:lnTo>
                    <a:pt x="18746" y="145678"/>
                  </a:lnTo>
                  <a:lnTo>
                    <a:pt x="4846" y="190445"/>
                  </a:lnTo>
                  <a:lnTo>
                    <a:pt x="0" y="238505"/>
                  </a:lnTo>
                  <a:lnTo>
                    <a:pt x="4846" y="286566"/>
                  </a:lnTo>
                  <a:lnTo>
                    <a:pt x="18746" y="331333"/>
                  </a:lnTo>
                  <a:lnTo>
                    <a:pt x="40739" y="371846"/>
                  </a:lnTo>
                  <a:lnTo>
                    <a:pt x="69865" y="407146"/>
                  </a:lnTo>
                  <a:lnTo>
                    <a:pt x="105165" y="436272"/>
                  </a:lnTo>
                  <a:lnTo>
                    <a:pt x="145678" y="458265"/>
                  </a:lnTo>
                  <a:lnTo>
                    <a:pt x="190445" y="472165"/>
                  </a:lnTo>
                  <a:lnTo>
                    <a:pt x="238505" y="477011"/>
                  </a:lnTo>
                  <a:lnTo>
                    <a:pt x="286566" y="472165"/>
                  </a:lnTo>
                  <a:lnTo>
                    <a:pt x="331333" y="458265"/>
                  </a:lnTo>
                  <a:lnTo>
                    <a:pt x="371846" y="436272"/>
                  </a:lnTo>
                  <a:lnTo>
                    <a:pt x="407146" y="407146"/>
                  </a:lnTo>
                  <a:lnTo>
                    <a:pt x="436272" y="371846"/>
                  </a:lnTo>
                  <a:lnTo>
                    <a:pt x="458265" y="331333"/>
                  </a:lnTo>
                  <a:lnTo>
                    <a:pt x="472165" y="286566"/>
                  </a:lnTo>
                  <a:lnTo>
                    <a:pt x="477012" y="238505"/>
                  </a:lnTo>
                  <a:lnTo>
                    <a:pt x="472165" y="190445"/>
                  </a:lnTo>
                  <a:lnTo>
                    <a:pt x="458265" y="145678"/>
                  </a:lnTo>
                  <a:lnTo>
                    <a:pt x="436272" y="105165"/>
                  </a:lnTo>
                  <a:lnTo>
                    <a:pt x="407146" y="69865"/>
                  </a:lnTo>
                  <a:lnTo>
                    <a:pt x="371846" y="40739"/>
                  </a:lnTo>
                  <a:lnTo>
                    <a:pt x="331333" y="18746"/>
                  </a:lnTo>
                  <a:lnTo>
                    <a:pt x="286566" y="4846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8341" y="3505199"/>
              <a:ext cx="213969" cy="1905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385442" y="4098797"/>
            <a:ext cx="481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Huawei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54244" y="3357117"/>
            <a:ext cx="2513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Sectores</a:t>
            </a:r>
            <a:r>
              <a:rPr sz="1500" b="1" spc="14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que</a:t>
            </a:r>
            <a:r>
              <a:rPr sz="1500" b="1" spc="13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45" dirty="0">
                <a:solidFill>
                  <a:srgbClr val="1F2937"/>
                </a:solidFill>
                <a:latin typeface="Tahoma"/>
                <a:cs typeface="Tahoma"/>
              </a:rPr>
              <a:t>atendemos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266944" y="3781044"/>
            <a:ext cx="1472565" cy="762000"/>
            <a:chOff x="5266944" y="3781044"/>
            <a:chExt cx="1472565" cy="762000"/>
          </a:xfrm>
        </p:grpSpPr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66944" y="3781044"/>
              <a:ext cx="170573" cy="152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6916" y="3781044"/>
              <a:ext cx="172097" cy="1524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66944" y="4085844"/>
              <a:ext cx="170573" cy="1539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916" y="4085844"/>
              <a:ext cx="153924" cy="1539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66944" y="4390644"/>
              <a:ext cx="152400" cy="1524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66916" y="4390644"/>
              <a:ext cx="172097" cy="1524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482844" y="3740911"/>
            <a:ext cx="1028700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Retail</a:t>
            </a:r>
            <a:endParaRPr sz="1200">
              <a:latin typeface="Verdana"/>
              <a:cs typeface="Verdana"/>
            </a:endParaRPr>
          </a:p>
          <a:p>
            <a:pPr marL="12700" marR="5715" indent="19050">
              <a:lnSpc>
                <a:spcPct val="166500"/>
              </a:lnSpc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Manufactura Finanzas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84340" y="3740911"/>
            <a:ext cx="692785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Minería</a:t>
            </a:r>
            <a:endParaRPr sz="1200">
              <a:latin typeface="Verdana"/>
              <a:cs typeface="Verdana"/>
            </a:endParaRPr>
          </a:p>
          <a:p>
            <a:pPr marL="31750" marR="5080" indent="-19685">
              <a:lnSpc>
                <a:spcPct val="166500"/>
              </a:lnSpc>
            </a:pPr>
            <a:r>
              <a:rPr sz="1200" spc="-25" dirty="0">
                <a:solidFill>
                  <a:srgbClr val="374151"/>
                </a:solidFill>
                <a:latin typeface="Verdana"/>
                <a:cs typeface="Verdana"/>
              </a:rPr>
              <a:t>Servicios </a:t>
            </a:r>
            <a:r>
              <a:rPr sz="1200" spc="-20" dirty="0">
                <a:solidFill>
                  <a:srgbClr val="374151"/>
                </a:solidFill>
                <a:latin typeface="Verdana"/>
                <a:cs typeface="Verdana"/>
              </a:rPr>
              <a:t>Salud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38074" y="4935982"/>
            <a:ext cx="11252200" cy="833119"/>
            <a:chOff x="338074" y="4935982"/>
            <a:chExt cx="11252200" cy="833119"/>
          </a:xfrm>
        </p:grpSpPr>
        <p:sp>
          <p:nvSpPr>
            <p:cNvPr id="59" name="object 59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11154410" y="0"/>
                  </a:moveTo>
                  <a:lnTo>
                    <a:pt x="85115" y="0"/>
                  </a:lnTo>
                  <a:lnTo>
                    <a:pt x="51986" y="6687"/>
                  </a:lnTo>
                  <a:lnTo>
                    <a:pt x="24931" y="24923"/>
                  </a:lnTo>
                  <a:lnTo>
                    <a:pt x="6689" y="51970"/>
                  </a:lnTo>
                  <a:lnTo>
                    <a:pt x="0" y="85090"/>
                  </a:lnTo>
                  <a:lnTo>
                    <a:pt x="0" y="734796"/>
                  </a:lnTo>
                  <a:lnTo>
                    <a:pt x="6689" y="767925"/>
                  </a:lnTo>
                  <a:lnTo>
                    <a:pt x="24931" y="794980"/>
                  </a:lnTo>
                  <a:lnTo>
                    <a:pt x="51986" y="813222"/>
                  </a:lnTo>
                  <a:lnTo>
                    <a:pt x="85115" y="819912"/>
                  </a:lnTo>
                  <a:lnTo>
                    <a:pt x="11154410" y="819912"/>
                  </a:lnTo>
                  <a:lnTo>
                    <a:pt x="11187529" y="813222"/>
                  </a:lnTo>
                  <a:lnTo>
                    <a:pt x="11214576" y="794980"/>
                  </a:lnTo>
                  <a:lnTo>
                    <a:pt x="11232812" y="767925"/>
                  </a:lnTo>
                  <a:lnTo>
                    <a:pt x="11239500" y="734796"/>
                  </a:lnTo>
                  <a:lnTo>
                    <a:pt x="11239500" y="85090"/>
                  </a:lnTo>
                  <a:lnTo>
                    <a:pt x="11232812" y="51970"/>
                  </a:lnTo>
                  <a:lnTo>
                    <a:pt x="11214576" y="24923"/>
                  </a:lnTo>
                  <a:lnTo>
                    <a:pt x="11187529" y="6687"/>
                  </a:lnTo>
                  <a:lnTo>
                    <a:pt x="11154410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0" y="85090"/>
                  </a:moveTo>
                  <a:lnTo>
                    <a:pt x="6689" y="51970"/>
                  </a:lnTo>
                  <a:lnTo>
                    <a:pt x="24931" y="24923"/>
                  </a:lnTo>
                  <a:lnTo>
                    <a:pt x="51986" y="6687"/>
                  </a:lnTo>
                  <a:lnTo>
                    <a:pt x="85115" y="0"/>
                  </a:lnTo>
                  <a:lnTo>
                    <a:pt x="11154410" y="0"/>
                  </a:lnTo>
                  <a:lnTo>
                    <a:pt x="11187529" y="6687"/>
                  </a:lnTo>
                  <a:lnTo>
                    <a:pt x="11214576" y="24923"/>
                  </a:lnTo>
                  <a:lnTo>
                    <a:pt x="11232812" y="51970"/>
                  </a:lnTo>
                  <a:lnTo>
                    <a:pt x="11239500" y="85090"/>
                  </a:lnTo>
                  <a:lnTo>
                    <a:pt x="11239500" y="734796"/>
                  </a:lnTo>
                  <a:lnTo>
                    <a:pt x="11232812" y="767925"/>
                  </a:lnTo>
                  <a:lnTo>
                    <a:pt x="11214576" y="794980"/>
                  </a:lnTo>
                  <a:lnTo>
                    <a:pt x="11187529" y="813222"/>
                  </a:lnTo>
                  <a:lnTo>
                    <a:pt x="11154410" y="819912"/>
                  </a:lnTo>
                  <a:lnTo>
                    <a:pt x="85115" y="819912"/>
                  </a:lnTo>
                  <a:lnTo>
                    <a:pt x="51986" y="813222"/>
                  </a:lnTo>
                  <a:lnTo>
                    <a:pt x="24931" y="794980"/>
                  </a:lnTo>
                  <a:lnTo>
                    <a:pt x="6689" y="767925"/>
                  </a:lnTo>
                  <a:lnTo>
                    <a:pt x="0" y="734796"/>
                  </a:lnTo>
                  <a:lnTo>
                    <a:pt x="0" y="85090"/>
                  </a:lnTo>
                  <a:close/>
                </a:path>
              </a:pathLst>
            </a:custGeom>
            <a:ln w="12699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5968" y="5256276"/>
              <a:ext cx="190500" cy="1905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0768" y="5408676"/>
              <a:ext cx="152400" cy="1524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82240" y="5408676"/>
              <a:ext cx="152400" cy="15240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798372" y="5018404"/>
            <a:ext cx="4169410" cy="55753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b="1" spc="45" dirty="0">
                <a:solidFill>
                  <a:srgbClr val="1F2937"/>
                </a:solidFill>
                <a:latin typeface="Tahoma"/>
                <a:cs typeface="Tahoma"/>
              </a:rPr>
              <a:t>Enfoque</a:t>
            </a:r>
            <a:r>
              <a:rPr sz="1200" b="1" spc="7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1F2937"/>
                </a:solidFill>
                <a:latin typeface="Tahoma"/>
                <a:cs typeface="Tahoma"/>
              </a:rPr>
              <a:t>en</a:t>
            </a:r>
            <a:r>
              <a:rPr sz="1200" b="1" spc="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F2937"/>
                </a:solidFill>
                <a:latin typeface="Tahoma"/>
                <a:cs typeface="Tahoma"/>
              </a:rPr>
              <a:t>resultados</a:t>
            </a:r>
            <a:r>
              <a:rPr sz="1200" b="1" spc="8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F2937"/>
                </a:solidFill>
                <a:latin typeface="Tahoma"/>
                <a:cs typeface="Tahoma"/>
              </a:rPr>
              <a:t>medibles</a:t>
            </a:r>
            <a:endParaRPr sz="1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655"/>
              </a:spcBef>
              <a:tabLst>
                <a:tab pos="2112010" algn="l"/>
              </a:tabLst>
            </a:pPr>
            <a:r>
              <a:t>Cumplimiento SUNAT 100%	Seguridad Bancaria PGP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78552" y="5408676"/>
            <a:ext cx="153924" cy="152400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5395721" y="5367654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Go-Live Rápido sin Costos Cloud Recurrentes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51164" y="1850135"/>
            <a:ext cx="3505200" cy="247192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5968" y="6123430"/>
            <a:ext cx="1024128" cy="638556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15728" y="6345870"/>
            <a:ext cx="628688" cy="21180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96940" y="6337646"/>
            <a:ext cx="1003970" cy="21127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889238" y="6358126"/>
            <a:ext cx="828569" cy="23929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333744" y="6252986"/>
            <a:ext cx="905255" cy="46785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662671" y="6198108"/>
            <a:ext cx="681227" cy="521208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767571" y="6198108"/>
            <a:ext cx="883920" cy="429768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44553" y="6343089"/>
            <a:ext cx="1087526" cy="170285"/>
          </a:xfrm>
          <a:prstGeom prst="rect">
            <a:avLst/>
          </a:prstGeom>
        </p:spPr>
      </p:pic>
      <p:sp>
        <p:nvSpPr>
          <p:cNvPr id="76" name="Shape 53">
            <a:extLst>
              <a:ext uri="{FF2B5EF4-FFF2-40B4-BE49-F238E27FC236}">
                <a16:creationId xmlns:a16="http://schemas.microsoft.com/office/drawing/2014/main" id="{6A13462B-904A-4818-87F5-EAF4A98E5FAE}"/>
              </a:ext>
            </a:extLst>
          </p:cNvPr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B43F332F-D78C-4950-B5AA-29CECAEBD201}"/>
              </a:ext>
            </a:extLst>
          </p:cNvPr>
          <p:cNvSpPr txBox="1"/>
          <p:nvPr/>
        </p:nvSpPr>
        <p:spPr>
          <a:xfrm>
            <a:off x="286207" y="118872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¿Quienes somos?</a:t>
            </a:r>
            <a:endParaRPr lang="en-US" sz="2400" dirty="0"/>
          </a:p>
        </p:txBody>
      </p:sp>
      <p:grpSp>
        <p:nvGrpSpPr>
          <p:cNvPr id="16" name="object 16"/>
          <p:cNvGrpSpPr/>
          <p:nvPr/>
        </p:nvGrpSpPr>
        <p:grpSpPr>
          <a:xfrm>
            <a:off x="5867400" y="24383"/>
            <a:ext cx="6315710" cy="1600200"/>
            <a:chOff x="5867400" y="24383"/>
            <a:chExt cx="6315710" cy="1600200"/>
          </a:xfrm>
        </p:grpSpPr>
        <p:sp>
          <p:nvSpPr>
            <p:cNvPr id="17" name="object 17"/>
            <p:cNvSpPr/>
            <p:nvPr/>
          </p:nvSpPr>
          <p:spPr>
            <a:xfrm>
              <a:off x="5867400" y="184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952997" y="298704"/>
              <a:ext cx="286054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125200" y="24383"/>
              <a:ext cx="1057655" cy="1600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761695"/>
            <a:ext cx="11430000" cy="676657"/>
          </a:xfrm>
          <a:prstGeom prst="roundRect">
            <a:avLst>
              <a:gd name="adj" fmla="val 2566"/>
            </a:avLst>
          </a:prstGeom>
          <a:solidFill>
            <a:srgbClr val="F0F8FF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81305" y="761696"/>
            <a:ext cx="45719" cy="691286"/>
          </a:xfrm>
          <a:prstGeom prst="roundRect">
            <a:avLst>
              <a:gd name="adj" fmla="val 88928"/>
            </a:avLst>
          </a:prstGeom>
          <a:solidFill>
            <a:srgbClr val="1890FF"/>
          </a:solidFill>
          <a:ln w="12700">
            <a:solidFill>
              <a:srgbClr val="1890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11149" y="758875"/>
            <a:ext cx="11116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Arquitectura Integral de Localización Perú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0351" y="954176"/>
            <a:ext cx="11077956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Solución robusta desarrollada sobre el estándar de SAP S/4HANA que unifica en tiempo real el cumplimiento tributario ante SUNAT, la interacción con operadores OSE, la integración bancaria automatizada Host to Web y la mejor experiencia de usuario en Fiori Horizons.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381457" y="1565909"/>
            <a:ext cx="219456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5096" y="1565909"/>
            <a:ext cx="2628900" cy="40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4 Capas de la Arquitectura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814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381457" y="2109063"/>
            <a:ext cx="21524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1229106" y="2308402"/>
            <a:ext cx="476402" cy="47640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324203" y="2432760"/>
            <a:ext cx="2862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57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1. SAP S/4HANA Core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957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Base contable universal ACDOCA, vistas analíticas CDS Views y lógica nativa sin redundancia de datos.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695803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2695803" y="2109063"/>
            <a:ext cx="2152498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543452" y="2308402"/>
            <a:ext cx="476402" cy="47640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2810103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2. Integración Segura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2811018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Conectividad desatendida vía SAP CPI / API hacia SUNAT, operadores OSE y canales SFTP bancarios con cifrado PGP.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10150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010150" y="2109063"/>
            <a:ext cx="2152498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5857798" y="2308402"/>
            <a:ext cx="476402" cy="47640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157" y="24327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24450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3. Automatizaciones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5364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Aceleradores normativos: SSCO, Embargo coactivo, Retenciones CxC, Percepciones CxP y Reconciliación SIRE.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324496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7324496" y="2109063"/>
            <a:ext cx="2152498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8173059" y="2308402"/>
            <a:ext cx="476402" cy="47640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281873" y="2432760"/>
            <a:ext cx="256946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38796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4. Fiori Horizons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439710" y="3232860"/>
            <a:ext cx="19421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Cockpits interactivos, dashboards analíticos ejecutivos en vivo y asistencia inteligente con Droid Copilot.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6397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9639757" y="2109063"/>
            <a:ext cx="2152498" cy="38405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10487406" y="2308402"/>
            <a:ext cx="476402" cy="47640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10850" y="243276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540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5. Seguridad y Control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97540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Aprobaciones multinivel, validaciones preventivas de crédito fiscal y auditoría contable en un clic.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5" b="-5"/>
          <a:stretch/>
        </p:blipFill>
        <p:spPr>
          <a:xfrm>
            <a:off x="392430" y="4157319"/>
            <a:ext cx="4922520" cy="2609241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769" y="4547768"/>
            <a:ext cx="171907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58774" y="4357573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 en el Negocio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591769" y="5052517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33"/>
          <p:cNvSpPr/>
          <p:nvPr/>
        </p:nvSpPr>
        <p:spPr>
          <a:xfrm>
            <a:off x="668579" y="519973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4532" y="5285689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87374" y="5261914"/>
            <a:ext cx="32653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productividad y eficiencia operativa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91769" y="5547588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36"/>
          <p:cNvSpPr/>
          <p:nvPr/>
        </p:nvSpPr>
        <p:spPr>
          <a:xfrm>
            <a:off x="668579" y="569572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4532" y="5780760"/>
            <a:ext cx="133502" cy="13350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87374" y="5756986"/>
            <a:ext cx="32872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Adopción de usuarios más rápida y natural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591769" y="6118860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39"/>
          <p:cNvSpPr/>
          <p:nvPr/>
        </p:nvSpPr>
        <p:spPr>
          <a:xfrm>
            <a:off x="668579" y="626699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735330" y="6352946"/>
            <a:ext cx="171907" cy="133502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087374" y="6329172"/>
            <a:ext cx="39264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Reducción significativa de costos de entrenamiento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7246620" y="4209440"/>
            <a:ext cx="4572000" cy="2557120"/>
          </a:xfrm>
          <a:prstGeom prst="roundRect">
            <a:avLst>
              <a:gd name="adj" fmla="val 875"/>
            </a:avLst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42"/>
          <p:cNvSpPr/>
          <p:nvPr/>
        </p:nvSpPr>
        <p:spPr>
          <a:xfrm>
            <a:off x="11256264" y="5885993"/>
            <a:ext cx="952805" cy="9528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7370901" y="4377920"/>
            <a:ext cx="219456" cy="171907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685455" y="4187724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&amp; Integración</a:t>
            </a:r>
            <a:endParaRPr lang="en-US" sz="1300" dirty="0"/>
          </a:p>
        </p:txBody>
      </p:sp>
      <p:sp>
        <p:nvSpPr>
          <p:cNvPr id="58" name="Shape 44"/>
          <p:cNvSpPr/>
          <p:nvPr/>
        </p:nvSpPr>
        <p:spPr>
          <a:xfrm>
            <a:off x="7475676" y="4626939"/>
            <a:ext cx="4190695" cy="553212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80832" y="4793132"/>
            <a:ext cx="237744" cy="19019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7913674" y="4687976"/>
            <a:ext cx="27934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BTP</a:t>
            </a:r>
            <a:endParaRPr lang="en-US" sz="1000" dirty="0"/>
          </a:p>
        </p:txBody>
      </p:sp>
      <p:sp>
        <p:nvSpPr>
          <p:cNvPr id="61" name="Text 46"/>
          <p:cNvSpPr txBox="1"/>
          <p:nvPr/>
        </p:nvSpPr>
        <p:spPr>
          <a:xfrm>
            <a:off x="7913674" y="4973269"/>
            <a:ext cx="31967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Technology Platform como base de extensión</a:t>
            </a:r>
            <a:endParaRPr lang="en-US" sz="800" dirty="0"/>
          </a:p>
        </p:txBody>
      </p:sp>
      <p:sp>
        <p:nvSpPr>
          <p:cNvPr id="62" name="Shape 47"/>
          <p:cNvSpPr/>
          <p:nvPr/>
        </p:nvSpPr>
        <p:spPr>
          <a:xfrm>
            <a:off x="7475676" y="5341923"/>
            <a:ext cx="4190695" cy="505206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7580832" y="5446164"/>
            <a:ext cx="171907" cy="190195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7847837" y="5341923"/>
            <a:ext cx="2625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HANA</a:t>
            </a:r>
            <a:endParaRPr lang="en-US" sz="1000" dirty="0"/>
          </a:p>
        </p:txBody>
      </p:sp>
      <p:sp>
        <p:nvSpPr>
          <p:cNvPr id="65" name="Text 49"/>
          <p:cNvSpPr txBox="1"/>
          <p:nvPr/>
        </p:nvSpPr>
        <p:spPr>
          <a:xfrm>
            <a:off x="7847837" y="5627216"/>
            <a:ext cx="300380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 en tiempo real para aplicaciones analíticas</a:t>
            </a:r>
            <a:endParaRPr lang="en-US" sz="800" dirty="0"/>
          </a:p>
        </p:txBody>
      </p:sp>
      <p:sp>
        <p:nvSpPr>
          <p:cNvPr id="66" name="Shape 50"/>
          <p:cNvSpPr/>
          <p:nvPr/>
        </p:nvSpPr>
        <p:spPr>
          <a:xfrm>
            <a:off x="7505548" y="6034278"/>
            <a:ext cx="4190695" cy="519454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0704" y="6189953"/>
            <a:ext cx="190195" cy="190195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7895997" y="6084797"/>
            <a:ext cx="23280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69" name="Text 52"/>
          <p:cNvSpPr txBox="1"/>
          <p:nvPr/>
        </p:nvSpPr>
        <p:spPr>
          <a:xfrm>
            <a:off x="7895997" y="6371005"/>
            <a:ext cx="26645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de identidades y accesos centralizada</a:t>
            </a:r>
            <a:endParaRPr lang="en-US" sz="800" dirty="0"/>
          </a:p>
        </p:txBody>
      </p:sp>
      <p:sp>
        <p:nvSpPr>
          <p:cNvPr id="70" name="Shape 53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54"/>
          <p:cNvSpPr txBox="1"/>
          <p:nvPr/>
        </p:nvSpPr>
        <p:spPr>
          <a:xfrm>
            <a:off x="286207" y="118872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Visión Tecnológica S/4HANA</a:t>
            </a:r>
            <a:endParaRPr lang="en-US" sz="240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Ecosistema Integral de Soluciones S/4HANA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MATRIZ DE ALCANCE: LOCALIZACIÓN PERÚ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1. Aceleradores Normativos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Padrón SSCO (Sujetos Sin Capacidad Operativa) preventivo en FI, Embargo Electrónico de Grandes Compradores (&gt;1 UIT) y actualización automática de padrones SUNAT.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2. Retenciones &amp; Percepciones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Administrador de Retenciones CxC (con prevalencia de detracción) y Percepciones CxP en MM/MIRO (2% y 1%). Actualización masiva de partidas abiertas y FBL5N ampliado.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3. SIRE &amp; Libros PLE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Reconciliación SIRE RCE (8.1) y RVIE (14.1) con diferimiento de crédito fiscal. Cobertura completa PLE 3.1 al 3.24, Diario 5.1/5.3, Mayor 6.1, Activos Fijos 7.1-7.4 y Kardex 13.1.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4. Host to Web &amp; Emisión OSE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Pagos masivos bancarios online (BBVA, Interbank, BCP, Banbif) vía CPI con PGP y aprobación 2 niveles. Impresión masiva FE/GRE vía web service OSE y Series por Centro IDCP.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4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305" y="1467155"/>
            <a:ext cx="6637630" cy="46478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4205" y="1752905"/>
            <a:ext cx="61063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</a:t>
            </a:r>
            <a:r>
              <a:rPr lang="en-US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Financiero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24204" y="2210105"/>
            <a:ext cx="62298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Empodere a sus áreas contable y tributaria con una visión en tiempo real, interactiva y auditable del cumplimiento tributario SUNAT y la tesorería bancaria en SAP S/4HANA.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724205" y="29718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9186" y="30476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78662" y="2933395"/>
            <a:ext cx="5658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Gráficos Dinámicos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178662" y="3161995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Monitoreo en tiempo real del volumen de emisión, consistencia de la propuesta SIRE vs SAP (92%), control de detracciones y bloqueo preventivo de proveedores no habidos.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24205" y="3847795"/>
            <a:ext cx="295351" cy="304495"/>
          </a:xfrm>
          <a:prstGeom prst="roundRect">
            <a:avLst>
              <a:gd name="adj" fmla="val 79896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20217" y="3924605"/>
            <a:ext cx="95098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64946" y="3810305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 de Drill-down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164946" y="4077310"/>
            <a:ext cx="5629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total en un clic. Navegue directamente desde el indicador gráfico hasta el documento contable, de compras o logístico origen en SAP.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24205" y="47247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4800600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81405" y="4686300"/>
            <a:ext cx="5201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Interactivos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181405" y="4976903"/>
            <a:ext cx="5772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Segmentación estratégica de la información por periodo fiscal, sociedad, centro de costo o estado de transmisión ante la entidad regulatoria.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24205" y="53721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5447995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81405" y="5333695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Tarjetas Informativas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181405" y="5636801"/>
            <a:ext cx="523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proactiva: alertas de documentos rechazados, incidencias de transmisión y contingencias pendientes de resolución.</a:t>
            </a: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7790688" y="1724558"/>
            <a:ext cx="3791102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19"/>
          <p:cNvSpPr txBox="1"/>
          <p:nvPr/>
        </p:nvSpPr>
        <p:spPr>
          <a:xfrm>
            <a:off x="7790688" y="1304849"/>
            <a:ext cx="17236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</a:t>
            </a:r>
            <a:r>
              <a:rPr lang="en-US" sz="1300" b="1" dirty="0" err="1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Inicial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906049" y="1362456"/>
            <a:ext cx="152705" cy="152705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11173054" y="1362456"/>
            <a:ext cx="133502" cy="15270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420856" y="1362456"/>
            <a:ext cx="152705" cy="152705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8045664" y="1962302"/>
            <a:ext cx="1238098" cy="1314907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21"/>
          <p:cNvSpPr txBox="1"/>
          <p:nvPr/>
        </p:nvSpPr>
        <p:spPr>
          <a:xfrm>
            <a:off x="8098417" y="2124151"/>
            <a:ext cx="12380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Libros Generados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8207513" y="2428646"/>
            <a:ext cx="888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100%</a:t>
            </a:r>
            <a:endParaRPr lang="en-US" sz="22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3"/>
          <a:srcRect l="-1773" r="-1773"/>
          <a:stretch/>
        </p:blipFill>
        <p:spPr>
          <a:xfrm>
            <a:off x="8982010" y="2562149"/>
            <a:ext cx="133502" cy="171907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207513" y="2809951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+15% vs mes anterior</a:t>
            </a:r>
            <a:endParaRPr lang="en-US" sz="900" dirty="0"/>
          </a:p>
        </p:txBody>
      </p:sp>
      <p:sp>
        <p:nvSpPr>
          <p:cNvPr id="38" name="Shape 24"/>
          <p:cNvSpPr/>
          <p:nvPr/>
        </p:nvSpPr>
        <p:spPr>
          <a:xfrm>
            <a:off x="10045458" y="1999335"/>
            <a:ext cx="1238098" cy="1314907"/>
          </a:xfrm>
          <a:prstGeom prst="roundRect">
            <a:avLst>
              <a:gd name="adj" fmla="val 134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25"/>
          <p:cNvSpPr txBox="1"/>
          <p:nvPr/>
        </p:nvSpPr>
        <p:spPr>
          <a:xfrm>
            <a:off x="10207306" y="2161184"/>
            <a:ext cx="7525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Consistencia SIRE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10207306" y="2542489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92.3%</a:t>
            </a:r>
            <a:endParaRPr lang="en-US" sz="22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4"/>
          <a:srcRect l="-1773" r="-1773"/>
          <a:stretch/>
        </p:blipFill>
        <p:spPr>
          <a:xfrm>
            <a:off x="10760518" y="2675077"/>
            <a:ext cx="133502" cy="171907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10207306" y="2999689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En línea OSE</a:t>
            </a:r>
            <a:endParaRPr lang="en-US" sz="900" dirty="0"/>
          </a:p>
        </p:txBody>
      </p:sp>
      <p:sp>
        <p:nvSpPr>
          <p:cNvPr id="48" name="Shape 32"/>
          <p:cNvSpPr/>
          <p:nvPr/>
        </p:nvSpPr>
        <p:spPr>
          <a:xfrm>
            <a:off x="7790688" y="3504895"/>
            <a:ext cx="1962302" cy="2734056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33"/>
          <p:cNvSpPr txBox="1"/>
          <p:nvPr/>
        </p:nvSpPr>
        <p:spPr>
          <a:xfrm>
            <a:off x="7952537" y="3666744"/>
            <a:ext cx="1704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Semáforo SUNAT</a:t>
            </a:r>
            <a:endParaRPr lang="en-US" sz="10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5"/>
          <a:srcRect l="-312" r="-312"/>
          <a:stretch/>
        </p:blipFill>
        <p:spPr>
          <a:xfrm>
            <a:off x="7952537" y="4123944"/>
            <a:ext cx="1638605" cy="1952244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9896551" y="3504895"/>
            <a:ext cx="1676095" cy="2734056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35"/>
          <p:cNvSpPr txBox="1"/>
          <p:nvPr/>
        </p:nvSpPr>
        <p:spPr>
          <a:xfrm>
            <a:off x="10058400" y="3666744"/>
            <a:ext cx="14100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Calendario Tributario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6"/>
          <a:srcRect l="-4" r="-4"/>
          <a:stretch/>
        </p:blipFill>
        <p:spPr>
          <a:xfrm>
            <a:off x="10058400" y="4123944"/>
            <a:ext cx="1352398" cy="1952244"/>
          </a:xfrm>
          <a:prstGeom prst="rect">
            <a:avLst/>
          </a:prstGeom>
        </p:spPr>
      </p:pic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7">
            <a:alphaModFix amt="55000"/>
          </a:blip>
          <a:srcRect l="-2571" r="-2571"/>
          <a:stretch/>
        </p:blipFill>
        <p:spPr>
          <a:xfrm>
            <a:off x="7808976" y="5810893"/>
            <a:ext cx="201168" cy="218661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457200" y="0"/>
            <a:ext cx="48920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y Analíticos</a:t>
            </a:r>
            <a:endParaRPr lang="en-US" sz="2700" dirty="0"/>
          </a:p>
        </p:txBody>
      </p:sp>
      <p:sp>
        <p:nvSpPr>
          <p:cNvPr id="58" name="Text 38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con KPIs en tiempo real</a:t>
            </a:r>
            <a:endParaRPr lang="en-US" sz="1500" dirty="0"/>
          </a:p>
        </p:txBody>
      </p:sp>
      <p:pic>
        <p:nvPicPr>
          <p:cNvPr id="59" name="Image 15" descr="preencoded.png">
            <a:extLst>
              <a:ext uri="{FF2B5EF4-FFF2-40B4-BE49-F238E27FC236}">
                <a16:creationId xmlns:a16="http://schemas.microsoft.com/office/drawing/2014/main" id="{6A787BE4-CF91-40F7-BD7B-75CB2190531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60" name="Picture 59" descr="fiori_dashboard_178485746891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2030" y="1067105"/>
            <a:ext cx="4258361" cy="5410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Consultas en Línea y Gestión 360°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 y contextual a la información del cliente</a:t>
            </a:r>
            <a:endParaRPr lang="en-US" sz="15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4" name="Text 7">
            <a:extLst>
              <a:ext uri="{FF2B5EF4-FFF2-40B4-BE49-F238E27FC236}">
                <a16:creationId xmlns:a16="http://schemas.microsoft.com/office/drawing/2014/main" id="{1574FBCE-35B8-4E10-9C76-3EF9CC0D0F82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HANA PORTALS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38351F8-1A20-4747-AFD7-8F739B3C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88" y="910009"/>
            <a:ext cx="10902462" cy="54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0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DROID ASISTENTE VIRTUAL: IA EN LOCALIZACIÓN SAP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Copiloto Tributario Inteligente para Auditoría Continua y Consultas Normativas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2235403" y="1207652"/>
            <a:ext cx="3556102" cy="47530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39898" y="2884662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2606" y="1550552"/>
            <a:ext cx="761695" cy="7616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70350" y="1788296"/>
            <a:ext cx="286207" cy="2862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037332" y="2464952"/>
            <a:ext cx="19595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Auditoría en un Clic &amp; Asistencia SUNAT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2539898" y="3141608"/>
            <a:ext cx="161849" cy="228600"/>
          </a:xfrm>
          <a:prstGeom prst="roundRect">
            <a:avLst>
              <a:gd name="adj" fmla="val 2658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64587" y="3198301"/>
            <a:ext cx="10515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807817" y="3122406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Detección inteligente de inconsistencias entre la propuesta SIRE (RCE/RVIE) y las partidas contables en SAP.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2539898" y="378900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50871" y="3845696"/>
            <a:ext cx="105156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781300" y="3769801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Consultas en lenguaje natural de normativas tributarias (tasas de detracción, plazos de crédito fiscal y padrones SSCO).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2539898" y="4684201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2549957" y="4741808"/>
            <a:ext cx="105156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2778557" y="4664999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Generación guiada de lotes de pago para Banco de la Nación y conciliación de extractos MultiCash.</a:t>
            </a:r>
            <a:endParaRPr lang="en-US" sz="1200" dirty="0"/>
          </a:p>
        </p:txBody>
      </p:sp>
      <p:sp>
        <p:nvSpPr>
          <p:cNvPr id="39" name="Shape 22"/>
          <p:cNvSpPr/>
          <p:nvPr/>
        </p:nvSpPr>
        <p:spPr>
          <a:xfrm>
            <a:off x="6401409" y="2879103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23"/>
          <p:cNvSpPr/>
          <p:nvPr/>
        </p:nvSpPr>
        <p:spPr>
          <a:xfrm>
            <a:off x="7493203" y="1544993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607" r="-607"/>
          <a:stretch/>
        </p:blipFill>
        <p:spPr>
          <a:xfrm>
            <a:off x="7693457" y="1782737"/>
            <a:ext cx="362102" cy="286207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866839" y="2459393"/>
            <a:ext cx="2018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Asistente Conversacional Integrado</a:t>
            </a:r>
            <a:endParaRPr lang="en-US" sz="1200" dirty="0"/>
          </a:p>
        </p:txBody>
      </p:sp>
      <p:sp>
        <p:nvSpPr>
          <p:cNvPr id="43" name="Shape 25"/>
          <p:cNvSpPr/>
          <p:nvPr/>
        </p:nvSpPr>
        <p:spPr>
          <a:xfrm>
            <a:off x="6401409" y="3135135"/>
            <a:ext cx="142646" cy="228600"/>
          </a:xfrm>
          <a:prstGeom prst="roundRect">
            <a:avLst>
              <a:gd name="adj" fmla="val 3418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6040" y="3192742"/>
            <a:ext cx="105156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6651041" y="3115932"/>
            <a:ext cx="2781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Panel lateral desplegable en cualquier pantalla de Fiori Launchpad.</a:t>
            </a:r>
            <a:endParaRPr lang="en-US" sz="1200" dirty="0"/>
          </a:p>
        </p:txBody>
      </p:sp>
      <p:sp>
        <p:nvSpPr>
          <p:cNvPr id="46" name="Shape 27"/>
          <p:cNvSpPr/>
          <p:nvPr/>
        </p:nvSpPr>
        <p:spPr>
          <a:xfrm>
            <a:off x="6401409" y="378344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1468" y="3840137"/>
            <a:ext cx="105156" cy="11430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6641897" y="3764242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Alertas preventivas sobre comprobantes con proveedores No Habidos antes de contabilizar.</a:t>
            </a:r>
            <a:endParaRPr lang="en-US" sz="1200" dirty="0"/>
          </a:p>
        </p:txBody>
      </p:sp>
      <p:sp>
        <p:nvSpPr>
          <p:cNvPr id="49" name="Shape 29"/>
          <p:cNvSpPr/>
          <p:nvPr/>
        </p:nvSpPr>
        <p:spPr>
          <a:xfrm>
            <a:off x="6401409" y="4678642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410553" y="4735335"/>
            <a:ext cx="105156" cy="1143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6639153" y="4659440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Trazabilidad total sin enviar información financiera sensible fuera del entorno seguro corporativo.</a:t>
            </a:r>
            <a:endParaRPr lang="en-US" sz="1200" dirty="0"/>
          </a:p>
        </p:txBody>
      </p:sp>
      <p:sp>
        <p:nvSpPr>
          <p:cNvPr id="52" name="Text 31"/>
          <p:cNvSpPr txBox="1"/>
          <p:nvPr/>
        </p:nvSpPr>
        <p:spPr>
          <a:xfrm>
            <a:off x="8634374" y="1277988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Principal</a:t>
            </a:r>
            <a:endParaRPr lang="en-US" sz="12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5" name="Text 7">
            <a:extLst>
              <a:ext uri="{FF2B5EF4-FFF2-40B4-BE49-F238E27FC236}">
                <a16:creationId xmlns:a16="http://schemas.microsoft.com/office/drawing/2014/main" id="{9C400A49-C28F-4C1F-9BFB-CBC5C85F694A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 Empodere a sus áreas de contabilidad e impuestos con inteligencia artificial integrada en SAP HANA.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56" name="Picture 55" descr="droid_assistant_1784857487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202093"/>
            <a:ext cx="3556102" cy="4753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2D050">
                <a:tint val="45000"/>
                <a:satMod val="400000"/>
              </a:srgbClr>
            </a:duotone>
          </a:blip>
          <a:srcRect t="-400" b="-400"/>
          <a:stretch/>
        </p:blipFill>
        <p:spPr>
          <a:xfrm>
            <a:off x="1751381" y="2482227"/>
            <a:ext cx="8802929" cy="384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0"/>
            <a:ext cx="5324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Implementación</a:t>
            </a:r>
            <a:endParaRPr lang="en-US" sz="27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18795"/>
            <a:ext cx="5248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Plan de ejecución acelerado en 10 a 12 semanas (Metodología SAP Activate)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4664354" y="730236"/>
            <a:ext cx="2866644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2098" y="8545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69103" y="730236"/>
            <a:ext cx="2200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Agile / Scrum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457200" y="2655048"/>
            <a:ext cx="2729484" cy="2057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00761" y="2883648"/>
            <a:ext cx="2446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0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264039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5995" y="32265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Definición de Arquitectura y Seguridad.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721239"/>
            <a:ext cx="15270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75995" y="36837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Configuración Theming Corporativo.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4178439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75995" y="41409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Levantamiento y priorización de Backlog.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86684" y="2655048"/>
            <a:ext cx="2749601" cy="20574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3329330" y="288364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 Desarrollo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264039"/>
            <a:ext cx="152705" cy="15270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605479" y="32265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Apps del portal con integracion a servicios DIAN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721239"/>
            <a:ext cx="152705" cy="15270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3605479" y="36837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Construcción de Dashboards y KPIs.</a:t>
            </a:r>
            <a:endParaRPr lang="en-US" sz="12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4178439"/>
            <a:ext cx="152705" cy="15270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3605479" y="41409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Notificaciones y My Inbox.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t="-9" b="-9"/>
          <a:stretch/>
        </p:blipFill>
        <p:spPr>
          <a:xfrm>
            <a:off x="5936285" y="2655048"/>
            <a:ext cx="2982773" cy="20574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074359" y="2883648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y Pruebas UAT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264039"/>
            <a:ext cx="152705" cy="152705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6355080" y="32265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integrales de calidad y rendimiento.</a:t>
            </a:r>
            <a:endParaRPr lang="en-US" sz="12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721239"/>
            <a:ext cx="152705" cy="15270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6355080" y="36837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Testing (UAT) con Key Users.</a:t>
            </a:r>
            <a:endParaRPr lang="en-US" sz="12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4178439"/>
            <a:ext cx="152705" cy="152705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6355080" y="4140948"/>
            <a:ext cx="20638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Ajustes finales de UX/UI.</a:t>
            </a:r>
            <a:endParaRPr lang="en-US" sz="12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8919058" y="2655048"/>
            <a:ext cx="2816352" cy="2057400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9060790" y="2883648"/>
            <a:ext cx="2536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Go-Live &amp; Soporte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264039"/>
            <a:ext cx="152705" cy="15270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9337853" y="32265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Paso a entorno productivo corporativo.</a:t>
            </a:r>
            <a:endParaRPr lang="en-US" sz="12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721239"/>
            <a:ext cx="152705" cy="152705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9337853" y="36837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Sesiones de Training para usuarios finales.</a:t>
            </a:r>
            <a:endParaRPr lang="en-US" sz="120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4178439"/>
            <a:ext cx="152705" cy="152705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9337853" y="41409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Soporte Hypercare Post-GoLive.</a:t>
            </a:r>
            <a:endParaRPr lang="en-US" sz="120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1"/>
          <a:srcRect t="-47" b="-47"/>
          <a:stretch/>
        </p:blipFill>
        <p:spPr>
          <a:xfrm>
            <a:off x="1162202" y="1587943"/>
            <a:ext cx="1319479" cy="381305"/>
          </a:xfrm>
          <a:prstGeom prst="rect">
            <a:avLst/>
          </a:prstGeom>
        </p:spPr>
      </p:pic>
      <p:sp>
        <p:nvSpPr>
          <p:cNvPr id="47" name="Text 24"/>
          <p:cNvSpPr txBox="1"/>
          <p:nvPr/>
        </p:nvSpPr>
        <p:spPr>
          <a:xfrm>
            <a:off x="1333195" y="1663839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Sem 1-2</a:t>
            </a:r>
            <a:endParaRPr lang="en-US" sz="1200" dirty="0"/>
          </a:p>
        </p:txBody>
      </p:sp>
      <p:sp>
        <p:nvSpPr>
          <p:cNvPr id="48" name="Shape 25"/>
          <p:cNvSpPr/>
          <p:nvPr/>
        </p:nvSpPr>
        <p:spPr>
          <a:xfrm>
            <a:off x="1551737" y="2139785"/>
            <a:ext cx="333756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-45" b="-45"/>
          <a:stretch/>
        </p:blipFill>
        <p:spPr>
          <a:xfrm>
            <a:off x="1584503" y="2187790"/>
            <a:ext cx="256946" cy="228600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13"/>
          <a:srcRect t="-34" b="-34"/>
          <a:stretch/>
        </p:blipFill>
        <p:spPr>
          <a:xfrm>
            <a:off x="3849624" y="1587943"/>
            <a:ext cx="1422806" cy="381305"/>
          </a:xfrm>
          <a:prstGeom prst="rect">
            <a:avLst/>
          </a:prstGeom>
        </p:spPr>
      </p:pic>
      <p:sp>
        <p:nvSpPr>
          <p:cNvPr id="51" name="Text 26"/>
          <p:cNvSpPr txBox="1"/>
          <p:nvPr/>
        </p:nvSpPr>
        <p:spPr>
          <a:xfrm>
            <a:off x="4021531" y="1663839"/>
            <a:ext cx="1177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Sem 3-6</a:t>
            </a:r>
            <a:endParaRPr lang="en-US" sz="1200" dirty="0"/>
          </a:p>
        </p:txBody>
      </p:sp>
      <p:sp>
        <p:nvSpPr>
          <p:cNvPr id="52" name="Shape 27"/>
          <p:cNvSpPr/>
          <p:nvPr/>
        </p:nvSpPr>
        <p:spPr>
          <a:xfrm>
            <a:off x="4379976" y="2121039"/>
            <a:ext cx="362102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53" name="Image 23" descr="preencoded.png"/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-80" r="-80"/>
          <a:stretch/>
        </p:blipFill>
        <p:spPr>
          <a:xfrm>
            <a:off x="4418381" y="2159443"/>
            <a:ext cx="286207" cy="228600"/>
          </a:xfrm>
          <a:prstGeom prst="rect">
            <a:avLst/>
          </a:prstGeom>
        </p:spPr>
      </p:pic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6708038" y="1587943"/>
            <a:ext cx="1438351" cy="381305"/>
          </a:xfrm>
          <a:prstGeom prst="rect">
            <a:avLst/>
          </a:prstGeom>
        </p:spPr>
      </p:pic>
      <p:sp>
        <p:nvSpPr>
          <p:cNvPr id="55" name="Text 28"/>
          <p:cNvSpPr txBox="1"/>
          <p:nvPr/>
        </p:nvSpPr>
        <p:spPr>
          <a:xfrm>
            <a:off x="6879946" y="1663839"/>
            <a:ext cx="1272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Sem 7-8 </a:t>
            </a:r>
            <a:endParaRPr lang="en-US" sz="1200" dirty="0"/>
          </a:p>
        </p:txBody>
      </p:sp>
      <p:sp>
        <p:nvSpPr>
          <p:cNvPr id="56" name="Shape 29"/>
          <p:cNvSpPr/>
          <p:nvPr/>
        </p:nvSpPr>
        <p:spPr>
          <a:xfrm>
            <a:off x="7274966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313371" y="2159443"/>
            <a:ext cx="228600" cy="228600"/>
          </a:xfrm>
          <a:prstGeom prst="rect">
            <a:avLst/>
          </a:prstGeom>
        </p:spPr>
      </p:pic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17"/>
          <a:srcRect t="-36" b="-36"/>
          <a:stretch/>
        </p:blipFill>
        <p:spPr>
          <a:xfrm>
            <a:off x="9584741" y="1587943"/>
            <a:ext cx="1484071" cy="381305"/>
          </a:xfrm>
          <a:prstGeom prst="rect">
            <a:avLst/>
          </a:prstGeom>
        </p:spPr>
      </p:pic>
      <p:sp>
        <p:nvSpPr>
          <p:cNvPr id="59" name="Text 30"/>
          <p:cNvSpPr txBox="1"/>
          <p:nvPr/>
        </p:nvSpPr>
        <p:spPr>
          <a:xfrm>
            <a:off x="9756648" y="1663839"/>
            <a:ext cx="1274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Sem 9-12 </a:t>
            </a:r>
            <a:endParaRPr lang="en-US" sz="1200" dirty="0"/>
          </a:p>
        </p:txBody>
      </p:sp>
      <p:sp>
        <p:nvSpPr>
          <p:cNvPr id="60" name="Shape 31"/>
          <p:cNvSpPr/>
          <p:nvPr/>
        </p:nvSpPr>
        <p:spPr>
          <a:xfrm>
            <a:off x="10174529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61" name="Image 27" descr="preencoded.png"/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0212019" y="2159443"/>
            <a:ext cx="228600" cy="228600"/>
          </a:xfrm>
          <a:prstGeom prst="rect">
            <a:avLst/>
          </a:prstGeom>
        </p:spPr>
      </p:pic>
      <p:sp>
        <p:nvSpPr>
          <p:cNvPr id="62" name="Shape 32"/>
          <p:cNvSpPr/>
          <p:nvPr/>
        </p:nvSpPr>
        <p:spPr>
          <a:xfrm>
            <a:off x="304495" y="4808266"/>
            <a:ext cx="11582705" cy="705002"/>
          </a:xfrm>
          <a:prstGeom prst="roundRect">
            <a:avLst>
              <a:gd name="adj" fmla="val 280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3" name="Shape 33"/>
          <p:cNvSpPr/>
          <p:nvPr/>
        </p:nvSpPr>
        <p:spPr>
          <a:xfrm>
            <a:off x="466344" y="4970115"/>
            <a:ext cx="381305" cy="381305"/>
          </a:xfrm>
          <a:prstGeom prst="ellips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19"/>
          <a:srcRect l="-1064" r="-1064"/>
          <a:stretch/>
        </p:blipFill>
        <p:spPr>
          <a:xfrm>
            <a:off x="547726" y="5075271"/>
            <a:ext cx="219456" cy="171907"/>
          </a:xfrm>
          <a:prstGeom prst="rect">
            <a:avLst/>
          </a:prstGeom>
        </p:spPr>
      </p:pic>
      <p:sp>
        <p:nvSpPr>
          <p:cNvPr id="65" name="Text 34"/>
          <p:cNvSpPr txBox="1"/>
          <p:nvPr/>
        </p:nvSpPr>
        <p:spPr>
          <a:xfrm>
            <a:off x="923544" y="5046010"/>
            <a:ext cx="301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D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Entregables Clave del Proyecto</a:t>
            </a: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1200" dirty="0"/>
          </a:p>
        </p:txBody>
      </p:sp>
      <p:pic>
        <p:nvPicPr>
          <p:cNvPr id="66" name="Image 29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3677717" y="5084415"/>
            <a:ext cx="75895" cy="152705"/>
          </a:xfrm>
          <a:prstGeom prst="rect">
            <a:avLst/>
          </a:prstGeom>
        </p:spPr>
      </p:pic>
      <p:sp>
        <p:nvSpPr>
          <p:cNvPr id="67" name="Text 35"/>
          <p:cNvSpPr txBox="1"/>
          <p:nvPr/>
        </p:nvSpPr>
        <p:spPr>
          <a:xfrm>
            <a:off x="3830422" y="5046010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Prototipos UX</a:t>
            </a:r>
            <a:endParaRPr lang="en-US" sz="1200" dirty="0"/>
          </a:p>
        </p:txBody>
      </p:sp>
      <p:pic>
        <p:nvPicPr>
          <p:cNvPr id="68" name="Image 30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5040173" y="5084415"/>
            <a:ext cx="75895" cy="152705"/>
          </a:xfrm>
          <a:prstGeom prst="rect">
            <a:avLst/>
          </a:prstGeom>
        </p:spPr>
      </p:pic>
      <p:sp>
        <p:nvSpPr>
          <p:cNvPr id="69" name="Text 36"/>
          <p:cNvSpPr txBox="1"/>
          <p:nvPr/>
        </p:nvSpPr>
        <p:spPr>
          <a:xfrm>
            <a:off x="5191963" y="5046010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Manuales de Usuario</a:t>
            </a:r>
            <a:endParaRPr lang="en-US" sz="1200" dirty="0"/>
          </a:p>
        </p:txBody>
      </p:sp>
      <p:pic>
        <p:nvPicPr>
          <p:cNvPr id="70" name="Image 31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6922922" y="5084415"/>
            <a:ext cx="75895" cy="152705"/>
          </a:xfrm>
          <a:prstGeom prst="rect">
            <a:avLst/>
          </a:prstGeom>
        </p:spPr>
      </p:pic>
      <p:sp>
        <p:nvSpPr>
          <p:cNvPr id="71" name="Text 37"/>
          <p:cNvSpPr txBox="1"/>
          <p:nvPr/>
        </p:nvSpPr>
        <p:spPr>
          <a:xfrm>
            <a:off x="7075627" y="5046010"/>
            <a:ext cx="147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Adopción</a:t>
            </a:r>
            <a:endParaRPr lang="en-US" sz="1200" dirty="0"/>
          </a:p>
        </p:txBody>
      </p:sp>
      <p:pic>
        <p:nvPicPr>
          <p:cNvPr id="72" name="Image 32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8541410" y="5084415"/>
            <a:ext cx="75895" cy="152705"/>
          </a:xfrm>
          <a:prstGeom prst="rect">
            <a:avLst/>
          </a:prstGeom>
        </p:spPr>
      </p:pic>
      <p:sp>
        <p:nvSpPr>
          <p:cNvPr id="73" name="Text 38"/>
          <p:cNvSpPr txBox="1"/>
          <p:nvPr/>
        </p:nvSpPr>
        <p:spPr>
          <a:xfrm>
            <a:off x="8694115" y="5046010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Medición KPIs de Éxito</a:t>
            </a:r>
            <a:endParaRPr lang="en-US" sz="1200" dirty="0"/>
          </a:p>
        </p:txBody>
      </p:sp>
      <p:pic>
        <p:nvPicPr>
          <p:cNvPr id="74" name="Image 15" descr="preencoded.png">
            <a:extLst>
              <a:ext uri="{FF2B5EF4-FFF2-40B4-BE49-F238E27FC236}">
                <a16:creationId xmlns:a16="http://schemas.microsoft.com/office/drawing/2014/main" id="{2DEC50DE-66A3-48CC-A67D-26CE0E180A3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75" name="Shape 15">
            <a:extLst>
              <a:ext uri="{FF2B5EF4-FFF2-40B4-BE49-F238E27FC236}">
                <a16:creationId xmlns:a16="http://schemas.microsoft.com/office/drawing/2014/main" id="{01BE0809-A482-4150-901A-385EAD2B93D4}"/>
              </a:ext>
            </a:extLst>
          </p:cNvPr>
          <p:cNvSpPr/>
          <p:nvPr/>
        </p:nvSpPr>
        <p:spPr>
          <a:xfrm>
            <a:off x="543758" y="5812584"/>
            <a:ext cx="11239805" cy="1009498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E4D1FD19-B26D-4CBC-96A3-7BDE56989D5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3954" y="6078675"/>
            <a:ext cx="190195" cy="190195"/>
          </a:xfrm>
          <a:prstGeom prst="rect">
            <a:avLst/>
          </a:prstGeom>
        </p:spPr>
      </p:pic>
      <p:sp>
        <p:nvSpPr>
          <p:cNvPr id="77" name="Text 16">
            <a:extLst>
              <a:ext uri="{FF2B5EF4-FFF2-40B4-BE49-F238E27FC236}">
                <a16:creationId xmlns:a16="http://schemas.microsoft.com/office/drawing/2014/main" id="{84558593-752B-4BF4-88DE-B8B861B97F3C}"/>
              </a:ext>
            </a:extLst>
          </p:cNvPr>
          <p:cNvSpPr txBox="1"/>
          <p:nvPr/>
        </p:nvSpPr>
        <p:spPr>
          <a:xfrm>
            <a:off x="1067710" y="6032040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Garantía de Servicio</a:t>
            </a:r>
            <a:endParaRPr lang="en-US" sz="1200" dirty="0"/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72EFBC7E-BD0D-40FD-8D09-B4556E807B4A}"/>
              </a:ext>
            </a:extLst>
          </p:cNvPr>
          <p:cNvSpPr txBox="1"/>
          <p:nvPr/>
        </p:nvSpPr>
        <p:spPr>
          <a:xfrm>
            <a:off x="1067710" y="6278928"/>
            <a:ext cx="10077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Nuestro modelo asegura no solo la entrega tecnológica, sino la adopción exitosa por parte de los usuarios, minimizando la resistencia al cambio y maximizando el valor de su inversión en SAP HANA.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6629" y="5055975"/>
            <a:ext cx="11271250" cy="893444"/>
            <a:chOff x="460246" y="5876532"/>
            <a:chExt cx="11271250" cy="8934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6" y="5876532"/>
              <a:ext cx="11270745" cy="8892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" y="5902451"/>
              <a:ext cx="5130546" cy="7886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11158219" y="0"/>
                  </a:moveTo>
                  <a:lnTo>
                    <a:pt x="81305" y="0"/>
                  </a:lnTo>
                  <a:lnTo>
                    <a:pt x="49656" y="6388"/>
                  </a:lnTo>
                  <a:lnTo>
                    <a:pt x="23812" y="23812"/>
                  </a:lnTo>
                  <a:lnTo>
                    <a:pt x="6388" y="49656"/>
                  </a:lnTo>
                  <a:lnTo>
                    <a:pt x="0" y="81305"/>
                  </a:lnTo>
                  <a:lnTo>
                    <a:pt x="0" y="776706"/>
                  </a:lnTo>
                  <a:lnTo>
                    <a:pt x="6388" y="808355"/>
                  </a:lnTo>
                  <a:lnTo>
                    <a:pt x="23812" y="834198"/>
                  </a:lnTo>
                  <a:lnTo>
                    <a:pt x="49656" y="851622"/>
                  </a:lnTo>
                  <a:lnTo>
                    <a:pt x="81305" y="858010"/>
                  </a:lnTo>
                  <a:lnTo>
                    <a:pt x="11158219" y="858010"/>
                  </a:lnTo>
                  <a:lnTo>
                    <a:pt x="11189833" y="851622"/>
                  </a:lnTo>
                  <a:lnTo>
                    <a:pt x="11215671" y="834198"/>
                  </a:lnTo>
                  <a:lnTo>
                    <a:pt x="11233104" y="808355"/>
                  </a:lnTo>
                  <a:lnTo>
                    <a:pt x="11239500" y="776706"/>
                  </a:lnTo>
                  <a:lnTo>
                    <a:pt x="11239500" y="81305"/>
                  </a:lnTo>
                  <a:lnTo>
                    <a:pt x="11233104" y="49656"/>
                  </a:lnTo>
                  <a:lnTo>
                    <a:pt x="11215671" y="23812"/>
                  </a:lnTo>
                  <a:lnTo>
                    <a:pt x="11189833" y="6388"/>
                  </a:lnTo>
                  <a:lnTo>
                    <a:pt x="11158219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0" y="81305"/>
                  </a:moveTo>
                  <a:lnTo>
                    <a:pt x="6388" y="49656"/>
                  </a:lnTo>
                  <a:lnTo>
                    <a:pt x="23812" y="23812"/>
                  </a:lnTo>
                  <a:lnTo>
                    <a:pt x="49656" y="6388"/>
                  </a:lnTo>
                  <a:lnTo>
                    <a:pt x="81305" y="0"/>
                  </a:lnTo>
                  <a:lnTo>
                    <a:pt x="11158219" y="0"/>
                  </a:lnTo>
                  <a:lnTo>
                    <a:pt x="11189833" y="6388"/>
                  </a:lnTo>
                  <a:lnTo>
                    <a:pt x="11215671" y="23812"/>
                  </a:lnTo>
                  <a:lnTo>
                    <a:pt x="11233104" y="49656"/>
                  </a:lnTo>
                  <a:lnTo>
                    <a:pt x="11239500" y="81305"/>
                  </a:lnTo>
                  <a:lnTo>
                    <a:pt x="11239500" y="776706"/>
                  </a:lnTo>
                  <a:lnTo>
                    <a:pt x="11233104" y="808355"/>
                  </a:lnTo>
                  <a:lnTo>
                    <a:pt x="11215671" y="834198"/>
                  </a:lnTo>
                  <a:lnTo>
                    <a:pt x="11189833" y="851622"/>
                  </a:lnTo>
                  <a:lnTo>
                    <a:pt x="11158219" y="858010"/>
                  </a:lnTo>
                  <a:lnTo>
                    <a:pt x="81305" y="858010"/>
                  </a:lnTo>
                  <a:lnTo>
                    <a:pt x="49656" y="851622"/>
                  </a:lnTo>
                  <a:lnTo>
                    <a:pt x="23812" y="834198"/>
                  </a:lnTo>
                  <a:lnTo>
                    <a:pt x="6388" y="808355"/>
                  </a:lnTo>
                  <a:lnTo>
                    <a:pt x="0" y="776706"/>
                  </a:lnTo>
                  <a:lnTo>
                    <a:pt x="0" y="81305"/>
                  </a:lnTo>
                  <a:close/>
                </a:path>
              </a:pathLst>
            </a:custGeom>
            <a:ln w="12700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9137" y="937548"/>
            <a:ext cx="10774884" cy="50154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680"/>
              </a:spcBef>
            </a:pP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Despliegue de solución 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t>Suite Completa de Localización Perú SAP S/4HANA (Fiori Horizons + BTP + CPI)</a:t>
            </a:r>
            <a:endParaRPr lang="es-MX"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  <a:spcBef>
                <a:spcPts val="1435"/>
              </a:spcBef>
            </a:pPr>
            <a:r>
              <a:rPr lang="es-MX" sz="1400" b="1" dirty="0">
                <a:solidFill>
                  <a:srgbClr val="6FAC46"/>
                </a:solidFill>
                <a:latin typeface="Tahoma"/>
                <a:cs typeface="Tahoma"/>
              </a:rPr>
              <a:t>Despliegue Back End </a:t>
            </a: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</a:pPr>
            <a:r>
              <a:t>100% de GAPs cubiertos: SSCO, Embargo coactivo, Retenciones CxC, Percepciones CxP, Host to Web Multibanco, PLE 3.1-3.24, SIRE RCE/RVIE, PDT 617, Impresión Masiva e IDCP.</a:t>
            </a:r>
            <a:endParaRPr lang="es-MX" sz="1400" b="1" dirty="0">
              <a:solidFill>
                <a:srgbClr val="6FAC46"/>
              </a:solidFill>
              <a:latin typeface="Tahoma"/>
              <a:cs typeface="Tahoma"/>
            </a:endParaRPr>
          </a:p>
          <a:p>
            <a:pPr marL="71120" marR="3105150">
              <a:lnSpc>
                <a:spcPct val="100000"/>
              </a:lnSpc>
              <a:spcBef>
                <a:spcPts val="1430"/>
              </a:spcBef>
            </a:pPr>
            <a:r>
              <a:t>Pruebas Unitarias – Integrales - Entregables:                                                                Entregables incluidos: Manuales de usuario, especificaciones de configuración, plan UAT, OTs transportadas y garantía post go-live.</a:t>
            </a: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lang="es-MX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</a:pPr>
            <a:r>
              <a:t>Inversión Integral DROID: USD $38,500 (+ Impuestos) [Frente a USD $56,600 de mercado]</a:t>
            </a:r>
          </a:p>
          <a:p>
            <a:pPr marL="71120">
              <a:lnSpc>
                <a:spcPct val="100000"/>
              </a:lnSpc>
            </a:pPr>
            <a:endParaRPr sz="1800" dirty="0">
              <a:latin typeface="Tahoma"/>
              <a:cs typeface="Tahoma"/>
            </a:endParaRPr>
          </a:p>
          <a:p>
            <a:pPr marL="71120">
              <a:lnSpc>
                <a:spcPts val="1255"/>
              </a:lnSpc>
            </a:pPr>
            <a:r>
              <a:rPr sz="1050" b="1" spc="-10" dirty="0">
                <a:solidFill>
                  <a:srgbClr val="4A5462"/>
                </a:solidFill>
                <a:latin typeface="Tahoma"/>
                <a:cs typeface="Tahoma"/>
              </a:rPr>
              <a:t>Asignación:</a:t>
            </a:r>
            <a:endParaRPr sz="1050" dirty="0">
              <a:latin typeface="Tahoma"/>
              <a:cs typeface="Tahoma"/>
            </a:endParaRPr>
          </a:p>
          <a:p>
            <a:pPr marL="71120">
              <a:lnSpc>
                <a:spcPts val="1435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9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70" dirty="0">
                <a:solidFill>
                  <a:srgbClr val="4A5462"/>
                </a:solidFill>
                <a:latin typeface="Verdana"/>
                <a:cs typeface="Verdana"/>
              </a:rPr>
              <a:t>SD</a:t>
            </a:r>
            <a:endParaRPr sz="1200" dirty="0">
              <a:latin typeface="Verdana"/>
              <a:cs typeface="Verdana"/>
            </a:endParaRPr>
          </a:p>
          <a:p>
            <a:pPr marL="71120" marR="4098925">
              <a:lnSpc>
                <a:spcPct val="100000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130" dirty="0">
                <a:solidFill>
                  <a:srgbClr val="4A5462"/>
                </a:solidFill>
                <a:latin typeface="Verdana"/>
                <a:cs typeface="Verdana"/>
              </a:rPr>
              <a:t>FI 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75" dirty="0">
                <a:solidFill>
                  <a:srgbClr val="4A5462"/>
                </a:solidFill>
                <a:latin typeface="Verdana"/>
                <a:cs typeface="Verdana"/>
              </a:rPr>
              <a:t>–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-80" dirty="0">
                <a:solidFill>
                  <a:srgbClr val="4A5462"/>
                </a:solidFill>
                <a:latin typeface="Verdana"/>
                <a:cs typeface="Verdana"/>
              </a:rPr>
              <a:t> CO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>
                <a:solidFill>
                  <a:srgbClr val="4A5462"/>
                </a:solidFill>
                <a:latin typeface="Verdana"/>
              </a:rPr>
              <a:t>Consultor Senior SAP FIORI 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 err="1">
                <a:solidFill>
                  <a:srgbClr val="4A5462"/>
                </a:solidFill>
                <a:latin typeface="Verdana"/>
              </a:rPr>
              <a:t>Consutlor</a:t>
            </a:r>
            <a:r>
              <a:rPr lang="es-MX" sz="1200" dirty="0">
                <a:solidFill>
                  <a:srgbClr val="4A5462"/>
                </a:solidFill>
                <a:latin typeface="Verdana"/>
              </a:rPr>
              <a:t> CPI para integracion con operador tributario (Carvajal)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 dirty="0">
              <a:latin typeface="Verdana"/>
              <a:cs typeface="Verdana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latin typeface="Calibri"/>
                <a:cs typeface="Calibri"/>
              </a:rPr>
              <a:t>Modalidad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pago</a:t>
            </a:r>
            <a:endParaRPr sz="12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inicio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asignación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generación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compra</a:t>
            </a:r>
            <a:r>
              <a:rPr sz="1400" spc="500" dirty="0">
                <a:latin typeface="Calibri"/>
                <a:cs typeface="Calibri"/>
              </a:rPr>
              <a:t> </a:t>
            </a:r>
            <a:endParaRPr lang="es-MX" sz="1400" spc="5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entregable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lang="es-PE" sz="1400" spc="-20" dirty="0">
                <a:latin typeface="Calibri"/>
                <a:cs typeface="Calibri"/>
              </a:rPr>
              <a:t> </a:t>
            </a:r>
            <a:r>
              <a:rPr lang="es-PE" sz="1400" spc="-10" dirty="0">
                <a:latin typeface="Calibri"/>
                <a:cs typeface="Calibri"/>
              </a:rPr>
              <a:t>documentación</a:t>
            </a:r>
            <a:r>
              <a:rPr lang="es-PE" sz="1400" spc="-25" dirty="0">
                <a:latin typeface="Calibri"/>
                <a:cs typeface="Calibri"/>
              </a:rPr>
              <a:t> y salida en PRD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D6BFA2E-0E3F-4136-8176-F066BCA045EE}"/>
              </a:ext>
            </a:extLst>
          </p:cNvPr>
          <p:cNvSpPr/>
          <p:nvPr/>
        </p:nvSpPr>
        <p:spPr>
          <a:xfrm>
            <a:off x="-230" y="25907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846DF586-CB37-44DA-8FA0-4DEF400A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PE" spc="85" dirty="0"/>
              <a:t>  Propuesta</a:t>
            </a:r>
            <a:r>
              <a:rPr lang="es-PE" spc="-20" dirty="0"/>
              <a:t> </a:t>
            </a:r>
            <a:r>
              <a:rPr lang="es-PE" spc="110" dirty="0"/>
              <a:t>Económica</a:t>
            </a:r>
            <a:endParaRPr lang="es-PE" dirty="0"/>
          </a:p>
        </p:txBody>
      </p:sp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A8F7E169-E0BA-4530-B1B9-42CF85DF5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Control Preventivo Fiscal y Gestión Automatizada de Medidas Cautelares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ACELERADORES NORMATIVOS: SSCO &amp; EMBARGO COACTIVO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Padrón SSCO (Capacidad Operativa)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Carga manual y automatizada del padrón oficial SSCO de SUNAT con validación de estructura.</a:t>
            </a:r>
            <a:br/>
            <a:r>
              <a:t>• Validación preventiva activa en transacciones de registro en FI (FB60) y transacciones de pre-registro.</a:t>
            </a:r>
            <a:br/>
            <a:r>
              <a:t>• Emisión de mensajes de advertencia o bloqueo inmediato si el contribuyente está catalogado como Sujeto Sin Capacidad Operativa, salvaguardando el crédito fiscal y el gasto deducible.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2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Embargo Electrónico (Grandes Compradores)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Módulo especializado para la consulta, declaración y pago de retención coactiva a proveedores para 'Grandes Compradores' o 'Terceros Retenedores'.</a:t>
            </a:r>
            <a:br/>
            <a:r>
              <a:t>• Análisis automático en la propuesta de pago F110 identificando documentos que superen 1 UIT.</a:t>
            </a:r>
            <a:br/>
            <a:r>
              <a:t>• Generación de archivos planos TXT para la plataforma EXTRANET de SUNAT y tratamiento normativo de recibos por honorarios.</a:t>
            </a:r>
            <a:br/>
            <a:r>
              <a:t>• Bloqueo masivo o individual de cuentas por pagar para proveedores con estado 'Tiene Deuda' y desbloqueo tras resolución.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Beneficio Empresarial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Blindaje total ante sanciones y multas de SUNAT por operaciones con proveedores observados.</a:t>
            </a:r>
            <a:br/>
            <a:r>
              <a:t>• Eliminación del riesgo de pago indebido a proveedores embargados por cobranza coactiva.</a:t>
            </a:r>
            <a:br/>
            <a:r>
              <a:t>• Reducción del 95% del tiempo operativo en la preparación de archivos para la extranet de SUNAT.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Integración Nativa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• Integrado con la gestión de partidas abiertas de SAP S/4HANA (BSIK/BSAK y ACDOCA).</a:t>
            </a:r>
            <a:br/>
            <a:r>
              <a:t>• Trazabilidad auditable de todas las consultas y bloqueos efectuados por usuario y fecha.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Automatización Integral de Impuestos en los Ciclos de Ventas y Compras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ADMINISTRADOR DE RETENCIONES (CxC) Y PERCEPCIONES (CxP)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Retenciones en CxC (Ventas / Cobranzas)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Asignación automática del indicador de retención (3%) en facturas generadas desde SD y FI según el padrón oficial SUNAT 'Agentes de Retención'.</a:t>
            </a:r>
            <a:br/>
            <a:r>
              <a:t>• Regla de Prevalencia: Si la factura está sujeta a detracción (DV), la detracción prevalece y NO se aplica retención.</a:t>
            </a:r>
            <a:br/>
            <a:r>
              <a:t>• Programa ejecutable actualizador de partidas abiertas si el cliente cambia de condición en el padrón.</a:t>
            </a:r>
            <a:br/>
            <a:r>
              <a:t>• Soporte en Facturación Electrónica de nuevos escenarios (Factura gravada + IGV + crédito + retención y notas de crédito referenciadas).</a:t>
            </a:r>
            <a:br/>
            <a:r>
              <a:t>• Contabilización automática de retención al cobro y columnas ampliadas en FBL5N.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2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Percepciones en CxP (Compras / Pagos)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Automatización de la percepción en compras registradas en MM (MIRO) y FI (FB60).</a:t>
            </a:r>
            <a:br/>
            <a:r>
              <a:t>• Determinación según maestro de materiales: Agente de percepción de venta interna (2%) o hidrocarburos (1%).</a:t>
            </a:r>
            <a:br/>
            <a:r>
              <a:t>• Exclusión tributaria: La percepción y la detracción son mutuamente excluyentes según ley.</a:t>
            </a:r>
            <a:br/>
            <a:r>
              <a:t>• Anotación del número de certificado de percepción en el documento y programa de actualización de partidas abiertas en proveedores.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Validaciones de Emisión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Validación de fecha de emisión al registrar facturas de compras: advertencia o bloqueo si la fecha es menor en 1 mes respecto a la fecha del sistema.</a:t>
            </a:r>
            <a:br/>
            <a:r>
              <a:t>• Control especial de crédito fiscal en detracciones: advertencia/error si la fecha de emisión supera los 3 meses.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Control Contable Total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• Cuadre perfecto entre libros contables, PDT 626 (Retenciones), PDT 697 (Percepciones) y la posición neta en tesorería.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Cumplimiento Normativo Exhaustivo bajo Formatos Oficiales SUNAT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PORTAL SIRE SUNAT &amp; LIBROS ELECTRÓNICOS PLE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Plataforma SIRE (RCE 8.1 y RVIE 14.1)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Reconciliación automática entre la propuesta RCE de SUNAT y los registros en SAP HANA.</a:t>
            </a:r>
            <a:br/>
            <a:r>
              <a:t>• Gestión de exclusión y diferimiento: Inclusión/exclusión de documentos con detracción pendiente o recibos públicos para aprovechamiento oportuno del crédito fiscal en meses posteriores.</a:t>
            </a:r>
            <a:br/>
            <a:r>
              <a:t>• Visualización analítica de comprobantes no presentados en el mes y control de periodos futuros.</a:t>
            </a:r>
            <a:br/>
            <a:r>
              <a:t>• Carga masiva de No Domiciliados con la nueva estructura oficial SUNAT (mayo 2026) y cálculo de retención en provisión para PDT 617.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2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Suite Completa de Libros PLE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Libro 3 Inventarios y Balances: 3.1 Balance General, 3.3 Clientes (12/13), 3.4 Personal (14), 3.5 Diversas (16/17), 3.6 Cobranza Dudosa (19), 3.7 Mercaderías y PT (20/21), 3.9 Intangibles (34), 3.12 Proveedores (42/43), 3.13 Pasivos Diversos (46/47), 3.15 Diferidos (37/49), 3.17 Comprobación, 3.19 Patrimonio, 3.20 Estado de Resultados y 3.24 Resultados Integrales.</a:t>
            </a:r>
            <a:br/>
            <a:r>
              <a:t>• Libro 5 Diario (5.1 y 5.3 Plan Cuentas), Libro 6 Mayor (6.1), Libro 7 Activos Fijos (7.1, 7.3 Dif. Cambio, 7.4 Leasing) y Libro 13 Kardex Permanente Valorizado (13.1).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Formatos y Validaciones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Doble modalidad operativa: Visualización en grilla analítica Fiori y exportación automática en archivos planos delimitados por tuberías (.TXT y .ZIP) según normas SUNAT.</a:t>
            </a:r>
            <a:br/>
            <a:r>
              <a:t>• Validación previa en memoria para certificar consistencia antes de la carga en las plataformas PLE/SIRE.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Homologación Contable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• Homologación garantizada al Plan Contable General Empresarial (PCGE) peruano.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Integración Desatendida con BBVA, Interbank, BCP y Banbif mediante SAP CPI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CONECTIVIDAD BANCARIA HOST TO WEB (PAGOS MASIVOS)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Arquitectura B2B Multibanco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Integración B2B automatizada basada en intercambio bidireccional de archivos entre SAP S/4HANA y los servidores SFTP de los bancos.</a:t>
            </a:r>
            <a:br/>
            <a:r>
              <a:t>• Conexión orquestada a través de SAP Cloud Integration (CPI) con cifrado y encriptación de datos bajo estándar PGP.</a:t>
            </a:r>
            <a:br/>
            <a:r>
              <a:t>• Cobertura para los principales bancos corporativos del país: BBVA Continental, Interbank, Banco de Crédito (BCP) y Banbif.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2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Operaciones Soportadas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Ejecución de pagos masivos a proveedores nacionales generados por la transacción estándar F110.</a:t>
            </a:r>
            <a:br/>
            <a:r>
              <a:t>• Modalidades de pago: Transferencias a cuentas del mismo banco, transferencias interbancarias (CCI diferidas e inmediatas) y emisión de cheques de gerencia.</a:t>
            </a:r>
            <a:br/>
            <a:r>
              <a:t>• Generación de estructuras de archivo homologadas según los requerimientos y especificaciones de cada entidad bancaria.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Flujo de Aprobación 2 Niveles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Administrador aprobador configurable de 2 niveles para las propuestas F110 antes de liberar el lote al banco.</a:t>
            </a:r>
            <a:br/>
            <a:r>
              <a:t>• Reglas de autorización segmentadas por importes máximos y perfiles ejecutivos.</a:t>
            </a:r>
            <a:br/>
            <a:r>
              <a:t>• Capacidad de anulación y reproceso de lotes con control de auditoría.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Monitor Z Host to Web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• Cockpit de monitoreo centralizado en SAP: visualización en tiempo real del estado del lote (enviado, procesado, rechazado, pagado), detalle por proveedor, cuenta bancaria e importe.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Operación Logística Continua, Impresión Masiva y Control por Sucursales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FACTURACIÓN ELECTRÓNICA &amp; GUÍAS DE REMISIÓN (SD/MM)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Monitor de Impresión Masiva (FE &amp; GRE)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Monitor especializado en SAP para la impresión automatizada y masiva de comprobantes electrónicos: Facturas, Boletas, Notas de Crédito, Notas de Débito y Guías de Remisión Electrónica (GRE Remitente/Transportista).</a:t>
            </a:r>
            <a:br/>
            <a:r>
              <a:t>• Obtención automática de la representación impresa oficial (PDF con código QR) directamente desde el servicio web expuesto por el Operador de Servicios Electrónicos (OSE).</a:t>
            </a:r>
            <a:br/>
            <a:r>
              <a:t>• Envío transparente al spool de impresión de SAP hacia impresoras de red locales preinstaladas.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2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Series por Centro en IDCP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Ampliación avanzada sobre la transacción estándar IDCP para restringir y filtrar dinámicamente las series de comprobantes asignadas exclusivamente al centro logístico ingresado.</a:t>
            </a:r>
            <a:br/>
            <a:r>
              <a:t>• Eliminación del riesgo de emisión cruzada de series entre locales, almacenes o plantas operativas.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4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Emisión en Contingencia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• Configuración de series exclusivas para comprobantes emitidos bajo modalidad de contingencia autorizada.</a:t>
            </a:r>
            <a:br/>
            <a:r>
              <a:t>• Mecanismo estructurado de despacho hacia el OSE cuando se restablezca la conectividad, preservando la correlatividad y la validez legal del comprobante.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Continuidad Operativa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t>• Operación 24/7 de despacho en plantas y sucursales sin paradas logísticas por fallas en la red.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7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 Arquitectura 100% integrada en SAP S/4HANA bajo estándares de Fiori Horizons, asegurando máxima disponibilidad, cero dependencia de satélites no controlados y soporte normativo garantizado.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1065</Words>
  <Application>Microsoft Office PowerPoint</Application>
  <PresentationFormat>Panorámica</PresentationFormat>
  <Paragraphs>159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Tahoma</vt:lpstr>
      <vt:lpstr>ui-sans-serif</vt:lpstr>
      <vt:lpstr>Verdana</vt:lpstr>
      <vt:lpstr>Office Theme</vt:lpstr>
      <vt:lpstr>Presentación de PowerPoint</vt:lpstr>
      <vt:lpstr>Quiénes somos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Propuesta Económica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CRM  Fiori</dc:title>
  <dc:subject>PptxGenJS Presentation</dc:subject>
  <dc:creator>DROID CONSULTING</dc:creator>
  <cp:keywords>Portal CRM</cp:keywords>
  <cp:lastModifiedBy>Proyecto SAP Regional  - QUI - IBP</cp:lastModifiedBy>
  <cp:revision>25</cp:revision>
  <dcterms:created xsi:type="dcterms:W3CDTF">2026-03-19T23:19:00Z</dcterms:created>
  <dcterms:modified xsi:type="dcterms:W3CDTF">2026-06-03T16:23:08Z</dcterms:modified>
</cp:coreProperties>
</file>