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9" r:id="rId5"/>
    <p:sldId id="270" r:id="rId6"/>
    <p:sldId id="275" r:id="rId7"/>
    <p:sldId id="271" r:id="rId8"/>
    <p:sldId id="274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304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45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80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488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jp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jpg"/><Relationship Id="rId33" Type="http://schemas.openxmlformats.org/officeDocument/2006/relationships/image" Target="../media/image38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jpg"/><Relationship Id="rId32" Type="http://schemas.openxmlformats.org/officeDocument/2006/relationships/image" Target="../media/image37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jp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jpg"/><Relationship Id="rId30" Type="http://schemas.openxmlformats.org/officeDocument/2006/relationships/image" Target="../media/image35.png"/><Relationship Id="rId8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69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5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70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56.png"/><Relationship Id="rId21" Type="http://schemas.openxmlformats.org/officeDocument/2006/relationships/image" Target="../media/image55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87000" y="-476402"/>
            <a:ext cx="2857500" cy="2857500"/>
          </a:xfrm>
          <a:prstGeom prst="ellipse">
            <a:avLst/>
          </a:prstGeom>
          <a:solidFill>
            <a:srgbClr val="1890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4762195"/>
            <a:ext cx="2381098" cy="2381098"/>
          </a:xfrm>
          <a:prstGeom prst="ellipse">
            <a:avLst/>
          </a:prstGeom>
          <a:solidFill>
            <a:srgbClr val="1890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0638418" y="4481024"/>
            <a:ext cx="1371296" cy="12156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2667305"/>
            <a:ext cx="12191695" cy="133319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412" r="-412"/>
          <a:stretch/>
        </p:blipFill>
        <p:spPr>
          <a:xfrm>
            <a:off x="761695" y="2667305"/>
            <a:ext cx="57607" cy="133319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0" y="6019495"/>
            <a:ext cx="12191695" cy="838505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1695" y="571500"/>
            <a:ext cx="8744407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SAP FIORI / BTP</a:t>
            </a:r>
            <a:endParaRPr lang="en-US" sz="4200" dirty="0"/>
          </a:p>
        </p:txBody>
      </p:sp>
      <p:sp>
        <p:nvSpPr>
          <p:cNvPr id="12" name="Text 7"/>
          <p:cNvSpPr txBox="1"/>
          <p:nvPr/>
        </p:nvSpPr>
        <p:spPr>
          <a:xfrm>
            <a:off x="1047902" y="3000146"/>
            <a:ext cx="77349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75" dirty="0">
                <a:solidFill>
                  <a:schemeClr val="accent5"/>
                </a:solidFill>
                <a:latin typeface="Montserrat" pitchFamily="34" charset="0"/>
              </a:rPr>
              <a:t>DOCUMENTO SOPORTE </a:t>
            </a:r>
          </a:p>
        </p:txBody>
      </p:sp>
      <p:sp>
        <p:nvSpPr>
          <p:cNvPr id="13" name="Shape 8"/>
          <p:cNvSpPr/>
          <p:nvPr/>
        </p:nvSpPr>
        <p:spPr>
          <a:xfrm>
            <a:off x="1047902" y="5143500"/>
            <a:ext cx="38405" cy="55229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276502" y="5143500"/>
            <a:ext cx="8429854" cy="5532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Aceleramos la transformación digital con experiencia de usuario de clase mundial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668426" y="6324905"/>
            <a:ext cx="2209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www.droidconsultingti.com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1305" y="6334049"/>
            <a:ext cx="152705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926373" y="6324905"/>
            <a:ext cx="3001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comercialdc@droidconsulting.org 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658600" y="6334049"/>
            <a:ext cx="152705" cy="152705"/>
          </a:xfrm>
          <a:prstGeom prst="rect">
            <a:avLst/>
          </a:prstGeom>
        </p:spPr>
      </p:pic>
      <p:pic>
        <p:nvPicPr>
          <p:cNvPr id="20" name="object 23">
            <a:extLst>
              <a:ext uri="{FF2B5EF4-FFF2-40B4-BE49-F238E27FC236}">
                <a16:creationId xmlns:a16="http://schemas.microsoft.com/office/drawing/2014/main" id="{293046C6-9772-47B2-9A7F-A9D72F2323F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78215" y="76200"/>
            <a:ext cx="3265931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702" y="142113"/>
            <a:ext cx="27717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Quiénes</a:t>
            </a:r>
            <a:r>
              <a:rPr spc="-55" dirty="0"/>
              <a:t> </a:t>
            </a:r>
            <a:r>
              <a:rPr spc="90" dirty="0"/>
              <a:t>somos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702" y="641984"/>
            <a:ext cx="376427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Expertos</a:t>
            </a:r>
            <a:r>
              <a:rPr sz="1500" spc="-90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en</a:t>
            </a:r>
            <a:r>
              <a:rPr sz="1500" spc="-65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transformación</a:t>
            </a:r>
            <a:r>
              <a:rPr sz="1500" spc="-55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digital</a:t>
            </a:r>
            <a:r>
              <a:rPr sz="1500" spc="-90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92C5FC"/>
                </a:solidFill>
                <a:latin typeface="Verdana"/>
                <a:cs typeface="Verdana"/>
              </a:rPr>
              <a:t>SAP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925" y="1349959"/>
            <a:ext cx="3989070" cy="1560195"/>
            <a:chOff x="226925" y="1349959"/>
            <a:chExt cx="3989070" cy="15601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5" y="1349959"/>
              <a:ext cx="3988608" cy="15596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6324" y="1391411"/>
              <a:ext cx="3839210" cy="1409700"/>
            </a:xfrm>
            <a:custGeom>
              <a:avLst/>
              <a:gdLst/>
              <a:ahLst/>
              <a:cxnLst/>
              <a:rect l="l" t="t" r="r" b="b"/>
              <a:pathLst>
                <a:path w="3839210" h="1409700">
                  <a:moveTo>
                    <a:pt x="3789553" y="0"/>
                  </a:moveTo>
                  <a:lnTo>
                    <a:pt x="49415" y="0"/>
                  </a:lnTo>
                  <a:lnTo>
                    <a:pt x="30180" y="3879"/>
                  </a:lnTo>
                  <a:lnTo>
                    <a:pt x="14473" y="14462"/>
                  </a:lnTo>
                  <a:lnTo>
                    <a:pt x="3883" y="30164"/>
                  </a:lnTo>
                  <a:lnTo>
                    <a:pt x="0" y="49402"/>
                  </a:lnTo>
                  <a:lnTo>
                    <a:pt x="0" y="1360297"/>
                  </a:lnTo>
                  <a:lnTo>
                    <a:pt x="3883" y="1379535"/>
                  </a:lnTo>
                  <a:lnTo>
                    <a:pt x="14473" y="1395237"/>
                  </a:lnTo>
                  <a:lnTo>
                    <a:pt x="30180" y="1405820"/>
                  </a:lnTo>
                  <a:lnTo>
                    <a:pt x="49415" y="1409700"/>
                  </a:lnTo>
                  <a:lnTo>
                    <a:pt x="3789553" y="1409700"/>
                  </a:lnTo>
                  <a:lnTo>
                    <a:pt x="3808791" y="1405820"/>
                  </a:lnTo>
                  <a:lnTo>
                    <a:pt x="3824493" y="1395237"/>
                  </a:lnTo>
                  <a:lnTo>
                    <a:pt x="3835076" y="1379535"/>
                  </a:lnTo>
                  <a:lnTo>
                    <a:pt x="3838955" y="1360297"/>
                  </a:lnTo>
                  <a:lnTo>
                    <a:pt x="3838955" y="49402"/>
                  </a:lnTo>
                  <a:lnTo>
                    <a:pt x="3835076" y="30164"/>
                  </a:lnTo>
                  <a:lnTo>
                    <a:pt x="3824493" y="14462"/>
                  </a:lnTo>
                  <a:lnTo>
                    <a:pt x="3808791" y="3879"/>
                  </a:lnTo>
                  <a:lnTo>
                    <a:pt x="37895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6324" y="1391411"/>
              <a:ext cx="38100" cy="1409700"/>
            </a:xfrm>
            <a:custGeom>
              <a:avLst/>
              <a:gdLst/>
              <a:ahLst/>
              <a:cxnLst/>
              <a:rect l="l" t="t" r="r" b="b"/>
              <a:pathLst>
                <a:path w="38100" h="1409700">
                  <a:moveTo>
                    <a:pt x="38100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38100" y="14097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4924" y="1580387"/>
              <a:ext cx="219710" cy="477520"/>
            </a:xfrm>
            <a:custGeom>
              <a:avLst/>
              <a:gdLst/>
              <a:ahLst/>
              <a:cxnLst/>
              <a:rect l="l" t="t" r="r" b="b"/>
              <a:pathLst>
                <a:path w="219709" h="477519">
                  <a:moveTo>
                    <a:pt x="109728" y="0"/>
                  </a:moveTo>
                  <a:lnTo>
                    <a:pt x="54344" y="32568"/>
                  </a:lnTo>
                  <a:lnTo>
                    <a:pt x="32137" y="69865"/>
                  </a:lnTo>
                  <a:lnTo>
                    <a:pt x="14980" y="118138"/>
                  </a:lnTo>
                  <a:lnTo>
                    <a:pt x="3919" y="175110"/>
                  </a:lnTo>
                  <a:lnTo>
                    <a:pt x="0" y="238506"/>
                  </a:lnTo>
                  <a:lnTo>
                    <a:pt x="3919" y="301901"/>
                  </a:lnTo>
                  <a:lnTo>
                    <a:pt x="14980" y="358873"/>
                  </a:lnTo>
                  <a:lnTo>
                    <a:pt x="32137" y="407146"/>
                  </a:lnTo>
                  <a:lnTo>
                    <a:pt x="54344" y="444443"/>
                  </a:lnTo>
                  <a:lnTo>
                    <a:pt x="109728" y="477012"/>
                  </a:lnTo>
                  <a:lnTo>
                    <a:pt x="138899" y="468490"/>
                  </a:lnTo>
                  <a:lnTo>
                    <a:pt x="187318" y="407146"/>
                  </a:lnTo>
                  <a:lnTo>
                    <a:pt x="204475" y="358873"/>
                  </a:lnTo>
                  <a:lnTo>
                    <a:pt x="215536" y="301901"/>
                  </a:lnTo>
                  <a:lnTo>
                    <a:pt x="219456" y="238506"/>
                  </a:lnTo>
                  <a:lnTo>
                    <a:pt x="215536" y="175110"/>
                  </a:lnTo>
                  <a:lnTo>
                    <a:pt x="204475" y="118138"/>
                  </a:lnTo>
                  <a:lnTo>
                    <a:pt x="187318" y="69865"/>
                  </a:lnTo>
                  <a:lnTo>
                    <a:pt x="165111" y="32568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115" y="1723643"/>
              <a:ext cx="190500" cy="1905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329562" y="1349959"/>
            <a:ext cx="4028440" cy="1560195"/>
            <a:chOff x="4329562" y="1349959"/>
            <a:chExt cx="4028440" cy="156019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9562" y="1349959"/>
              <a:ext cx="4028175" cy="155966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08932" y="1391411"/>
              <a:ext cx="3878579" cy="1409700"/>
            </a:xfrm>
            <a:custGeom>
              <a:avLst/>
              <a:gdLst/>
              <a:ahLst/>
              <a:cxnLst/>
              <a:rect l="l" t="t" r="r" b="b"/>
              <a:pathLst>
                <a:path w="3878579" h="1409700">
                  <a:moveTo>
                    <a:pt x="3829176" y="0"/>
                  </a:moveTo>
                  <a:lnTo>
                    <a:pt x="49402" y="0"/>
                  </a:lnTo>
                  <a:lnTo>
                    <a:pt x="30164" y="3879"/>
                  </a:lnTo>
                  <a:lnTo>
                    <a:pt x="14462" y="14462"/>
                  </a:lnTo>
                  <a:lnTo>
                    <a:pt x="3879" y="30164"/>
                  </a:lnTo>
                  <a:lnTo>
                    <a:pt x="0" y="49402"/>
                  </a:lnTo>
                  <a:lnTo>
                    <a:pt x="0" y="1360297"/>
                  </a:lnTo>
                  <a:lnTo>
                    <a:pt x="3879" y="1379535"/>
                  </a:lnTo>
                  <a:lnTo>
                    <a:pt x="14462" y="1395237"/>
                  </a:lnTo>
                  <a:lnTo>
                    <a:pt x="30164" y="1405820"/>
                  </a:lnTo>
                  <a:lnTo>
                    <a:pt x="49402" y="1409700"/>
                  </a:lnTo>
                  <a:lnTo>
                    <a:pt x="3829176" y="1409700"/>
                  </a:lnTo>
                  <a:lnTo>
                    <a:pt x="3848415" y="1405820"/>
                  </a:lnTo>
                  <a:lnTo>
                    <a:pt x="3864117" y="1395237"/>
                  </a:lnTo>
                  <a:lnTo>
                    <a:pt x="3874700" y="1379535"/>
                  </a:lnTo>
                  <a:lnTo>
                    <a:pt x="3878579" y="1360297"/>
                  </a:lnTo>
                  <a:lnTo>
                    <a:pt x="3878579" y="49402"/>
                  </a:lnTo>
                  <a:lnTo>
                    <a:pt x="3874700" y="30164"/>
                  </a:lnTo>
                  <a:lnTo>
                    <a:pt x="3864117" y="14462"/>
                  </a:lnTo>
                  <a:lnTo>
                    <a:pt x="3848415" y="3879"/>
                  </a:lnTo>
                  <a:lnTo>
                    <a:pt x="38291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08932" y="1391411"/>
              <a:ext cx="40005" cy="1409700"/>
            </a:xfrm>
            <a:custGeom>
              <a:avLst/>
              <a:gdLst/>
              <a:ahLst/>
              <a:cxnLst/>
              <a:rect l="l" t="t" r="r" b="b"/>
              <a:pathLst>
                <a:path w="40004" h="1409700">
                  <a:moveTo>
                    <a:pt x="39624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39624" y="14097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37531" y="1580387"/>
              <a:ext cx="210820" cy="477520"/>
            </a:xfrm>
            <a:custGeom>
              <a:avLst/>
              <a:gdLst/>
              <a:ahLst/>
              <a:cxnLst/>
              <a:rect l="l" t="t" r="r" b="b"/>
              <a:pathLst>
                <a:path w="210820" h="477519">
                  <a:moveTo>
                    <a:pt x="105155" y="0"/>
                  </a:moveTo>
                  <a:lnTo>
                    <a:pt x="52098" y="32568"/>
                  </a:lnTo>
                  <a:lnTo>
                    <a:pt x="30813" y="69865"/>
                  </a:lnTo>
                  <a:lnTo>
                    <a:pt x="14365" y="118138"/>
                  </a:lnTo>
                  <a:lnTo>
                    <a:pt x="3758" y="175110"/>
                  </a:lnTo>
                  <a:lnTo>
                    <a:pt x="0" y="238506"/>
                  </a:lnTo>
                  <a:lnTo>
                    <a:pt x="3758" y="301901"/>
                  </a:lnTo>
                  <a:lnTo>
                    <a:pt x="14365" y="358873"/>
                  </a:lnTo>
                  <a:lnTo>
                    <a:pt x="30813" y="407146"/>
                  </a:lnTo>
                  <a:lnTo>
                    <a:pt x="52098" y="444443"/>
                  </a:lnTo>
                  <a:lnTo>
                    <a:pt x="105155" y="477012"/>
                  </a:lnTo>
                  <a:lnTo>
                    <a:pt x="133097" y="468490"/>
                  </a:lnTo>
                  <a:lnTo>
                    <a:pt x="179498" y="407146"/>
                  </a:lnTo>
                  <a:lnTo>
                    <a:pt x="195946" y="358873"/>
                  </a:lnTo>
                  <a:lnTo>
                    <a:pt x="206553" y="301901"/>
                  </a:lnTo>
                  <a:lnTo>
                    <a:pt x="210312" y="238506"/>
                  </a:lnTo>
                  <a:lnTo>
                    <a:pt x="206553" y="175110"/>
                  </a:lnTo>
                  <a:lnTo>
                    <a:pt x="195946" y="118138"/>
                  </a:lnTo>
                  <a:lnTo>
                    <a:pt x="179498" y="69865"/>
                  </a:lnTo>
                  <a:lnTo>
                    <a:pt x="158213" y="32568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6676" y="1723643"/>
              <a:ext cx="190500" cy="19050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226925" y="3130174"/>
            <a:ext cx="3989070" cy="1750060"/>
            <a:chOff x="226925" y="3130174"/>
            <a:chExt cx="3989070" cy="175006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6925" y="3130174"/>
              <a:ext cx="3988608" cy="174979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06324" y="3171443"/>
              <a:ext cx="3839210" cy="1600200"/>
            </a:xfrm>
            <a:custGeom>
              <a:avLst/>
              <a:gdLst/>
              <a:ahLst/>
              <a:cxnLst/>
              <a:rect l="l" t="t" r="r" b="b"/>
              <a:pathLst>
                <a:path w="3839210" h="1600200">
                  <a:moveTo>
                    <a:pt x="3795395" y="0"/>
                  </a:moveTo>
                  <a:lnTo>
                    <a:pt x="43535" y="0"/>
                  </a:lnTo>
                  <a:lnTo>
                    <a:pt x="26590" y="3413"/>
                  </a:lnTo>
                  <a:lnTo>
                    <a:pt x="12752" y="12731"/>
                  </a:lnTo>
                  <a:lnTo>
                    <a:pt x="3421" y="26574"/>
                  </a:lnTo>
                  <a:lnTo>
                    <a:pt x="0" y="43560"/>
                  </a:lnTo>
                  <a:lnTo>
                    <a:pt x="0" y="1556638"/>
                  </a:lnTo>
                  <a:lnTo>
                    <a:pt x="3421" y="1573625"/>
                  </a:lnTo>
                  <a:lnTo>
                    <a:pt x="12752" y="1587468"/>
                  </a:lnTo>
                  <a:lnTo>
                    <a:pt x="26590" y="1596786"/>
                  </a:lnTo>
                  <a:lnTo>
                    <a:pt x="43535" y="1600199"/>
                  </a:lnTo>
                  <a:lnTo>
                    <a:pt x="3795395" y="1600199"/>
                  </a:lnTo>
                  <a:lnTo>
                    <a:pt x="3812381" y="1596786"/>
                  </a:lnTo>
                  <a:lnTo>
                    <a:pt x="3826224" y="1587468"/>
                  </a:lnTo>
                  <a:lnTo>
                    <a:pt x="3835542" y="1573625"/>
                  </a:lnTo>
                  <a:lnTo>
                    <a:pt x="3838955" y="1556638"/>
                  </a:lnTo>
                  <a:lnTo>
                    <a:pt x="3838955" y="43560"/>
                  </a:lnTo>
                  <a:lnTo>
                    <a:pt x="3835542" y="26574"/>
                  </a:lnTo>
                  <a:lnTo>
                    <a:pt x="3826224" y="12731"/>
                  </a:lnTo>
                  <a:lnTo>
                    <a:pt x="3812381" y="3413"/>
                  </a:lnTo>
                  <a:lnTo>
                    <a:pt x="3795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6324" y="3171443"/>
              <a:ext cx="38100" cy="1600200"/>
            </a:xfrm>
            <a:custGeom>
              <a:avLst/>
              <a:gdLst/>
              <a:ahLst/>
              <a:cxnLst/>
              <a:rect l="l" t="t" r="r" b="b"/>
              <a:pathLst>
                <a:path w="38100" h="1600200">
                  <a:moveTo>
                    <a:pt x="38100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38100" y="1600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4924" y="3361943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506" y="0"/>
                  </a:moveTo>
                  <a:lnTo>
                    <a:pt x="190438" y="4846"/>
                  </a:lnTo>
                  <a:lnTo>
                    <a:pt x="145668" y="18746"/>
                  </a:lnTo>
                  <a:lnTo>
                    <a:pt x="105154" y="40739"/>
                  </a:lnTo>
                  <a:lnTo>
                    <a:pt x="69856" y="69865"/>
                  </a:lnTo>
                  <a:lnTo>
                    <a:pt x="40732" y="105165"/>
                  </a:lnTo>
                  <a:lnTo>
                    <a:pt x="18742" y="145678"/>
                  </a:lnTo>
                  <a:lnTo>
                    <a:pt x="4845" y="190445"/>
                  </a:lnTo>
                  <a:lnTo>
                    <a:pt x="0" y="238505"/>
                  </a:lnTo>
                  <a:lnTo>
                    <a:pt x="4845" y="286566"/>
                  </a:lnTo>
                  <a:lnTo>
                    <a:pt x="18742" y="331333"/>
                  </a:lnTo>
                  <a:lnTo>
                    <a:pt x="40732" y="371846"/>
                  </a:lnTo>
                  <a:lnTo>
                    <a:pt x="69856" y="407146"/>
                  </a:lnTo>
                  <a:lnTo>
                    <a:pt x="105154" y="436272"/>
                  </a:lnTo>
                  <a:lnTo>
                    <a:pt x="145668" y="458265"/>
                  </a:lnTo>
                  <a:lnTo>
                    <a:pt x="190438" y="472165"/>
                  </a:lnTo>
                  <a:lnTo>
                    <a:pt x="238506" y="477011"/>
                  </a:lnTo>
                  <a:lnTo>
                    <a:pt x="286573" y="472165"/>
                  </a:lnTo>
                  <a:lnTo>
                    <a:pt x="331343" y="458265"/>
                  </a:lnTo>
                  <a:lnTo>
                    <a:pt x="371857" y="436272"/>
                  </a:lnTo>
                  <a:lnTo>
                    <a:pt x="407155" y="407146"/>
                  </a:lnTo>
                  <a:lnTo>
                    <a:pt x="436279" y="371846"/>
                  </a:lnTo>
                  <a:lnTo>
                    <a:pt x="458269" y="331333"/>
                  </a:lnTo>
                  <a:lnTo>
                    <a:pt x="472166" y="286566"/>
                  </a:lnTo>
                  <a:lnTo>
                    <a:pt x="477012" y="238505"/>
                  </a:lnTo>
                  <a:lnTo>
                    <a:pt x="472166" y="190445"/>
                  </a:lnTo>
                  <a:lnTo>
                    <a:pt x="458269" y="145678"/>
                  </a:lnTo>
                  <a:lnTo>
                    <a:pt x="436279" y="105165"/>
                  </a:lnTo>
                  <a:lnTo>
                    <a:pt x="407155" y="69865"/>
                  </a:lnTo>
                  <a:lnTo>
                    <a:pt x="371857" y="40739"/>
                  </a:lnTo>
                  <a:lnTo>
                    <a:pt x="331343" y="18746"/>
                  </a:lnTo>
                  <a:lnTo>
                    <a:pt x="286573" y="4846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89812" y="1485233"/>
            <a:ext cx="3024505" cy="114744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500" b="1" spc="-215" dirty="0">
                <a:solidFill>
                  <a:srgbClr val="1F2937"/>
                </a:solidFill>
                <a:latin typeface="Tahoma"/>
                <a:cs typeface="Tahoma"/>
              </a:rPr>
              <a:t>10+</a:t>
            </a:r>
            <a:r>
              <a:rPr sz="1500" b="1" spc="4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1F2937"/>
                </a:solidFill>
                <a:latin typeface="Tahoma"/>
                <a:cs typeface="Tahoma"/>
              </a:rPr>
              <a:t>años</a:t>
            </a:r>
            <a:r>
              <a:rPr sz="1500" b="1" spc="65" dirty="0">
                <a:solidFill>
                  <a:srgbClr val="1F2937"/>
                </a:solidFill>
                <a:latin typeface="Tahoma"/>
                <a:cs typeface="Tahoma"/>
              </a:rPr>
              <a:t> de</a:t>
            </a:r>
            <a:r>
              <a:rPr sz="1500" b="1" spc="4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1F2937"/>
                </a:solidFill>
                <a:latin typeface="Tahoma"/>
                <a:cs typeface="Tahoma"/>
              </a:rPr>
              <a:t>experiencia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99800"/>
              </a:lnSpc>
              <a:spcBef>
                <a:spcPts val="570"/>
              </a:spcBef>
            </a:pP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Somos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líderes</a:t>
            </a:r>
            <a:r>
              <a:rPr sz="1200" spc="-6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en</a:t>
            </a:r>
            <a:r>
              <a:rPr sz="1200" spc="-6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10" dirty="0">
                <a:solidFill>
                  <a:srgbClr val="4A5462"/>
                </a:solidFill>
                <a:latin typeface="Verdana"/>
                <a:cs typeface="Verdana"/>
              </a:rPr>
              <a:t>TI</a:t>
            </a:r>
            <a:r>
              <a:rPr sz="1200" spc="-5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con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más</a:t>
            </a:r>
            <a:r>
              <a:rPr sz="1200" spc="-5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de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60" dirty="0">
                <a:solidFill>
                  <a:srgbClr val="4A5462"/>
                </a:solidFill>
                <a:latin typeface="Verdana"/>
                <a:cs typeface="Verdana"/>
              </a:rPr>
              <a:t>10</a:t>
            </a:r>
            <a:r>
              <a:rPr sz="1200" spc="-6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años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impulsando</a:t>
            </a:r>
            <a:r>
              <a:rPr sz="1200" spc="4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la</a:t>
            </a:r>
            <a:r>
              <a:rPr sz="1200" spc="5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transformación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empresarial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especializada</a:t>
            </a:r>
            <a:r>
              <a:rPr sz="1200" spc="-7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Verdana"/>
                <a:cs typeface="Verdana"/>
              </a:rPr>
              <a:t>en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ecosistemas</a:t>
            </a:r>
            <a:r>
              <a:rPr sz="1200" spc="-2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SAP</a:t>
            </a:r>
            <a:r>
              <a:rPr sz="1200" spc="-5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y</a:t>
            </a:r>
            <a:r>
              <a:rPr sz="1200" spc="-4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tecnologías</a:t>
            </a:r>
            <a:r>
              <a:rPr sz="1200" spc="-4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cloud.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43347" y="1473803"/>
            <a:ext cx="3248660" cy="116776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900"/>
              </a:spcBef>
            </a:pPr>
            <a:r>
              <a:rPr sz="1500" b="1" dirty="0">
                <a:solidFill>
                  <a:srgbClr val="1F2937"/>
                </a:solidFill>
                <a:latin typeface="Tahoma"/>
                <a:cs typeface="Tahoma"/>
              </a:rPr>
              <a:t>Triple</a:t>
            </a:r>
            <a:r>
              <a:rPr sz="1500" b="1" spc="11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1F2937"/>
                </a:solidFill>
                <a:latin typeface="Tahoma"/>
                <a:cs typeface="Tahoma"/>
              </a:rPr>
              <a:t>especialización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99800"/>
              </a:lnSpc>
              <a:spcBef>
                <a:spcPts val="645"/>
              </a:spcBef>
            </a:pP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Nuestro</a:t>
            </a:r>
            <a:r>
              <a:rPr sz="1200" spc="-5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diferenciador</a:t>
            </a:r>
            <a:r>
              <a:rPr sz="1200" spc="-6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Verdana"/>
                <a:cs typeface="Verdana"/>
              </a:rPr>
              <a:t>único:</a:t>
            </a:r>
            <a:r>
              <a:rPr sz="1200" spc="-6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combinamos Staffing</a:t>
            </a:r>
            <a:r>
              <a:rPr sz="1200" spc="-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experto</a:t>
            </a:r>
            <a:r>
              <a:rPr sz="1200" spc="-2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300" dirty="0">
                <a:solidFill>
                  <a:srgbClr val="4A5462"/>
                </a:solidFill>
                <a:latin typeface="Verdana"/>
                <a:cs typeface="Verdana"/>
              </a:rPr>
              <a:t>+</a:t>
            </a:r>
            <a:r>
              <a:rPr sz="1200" spc="-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Productos</a:t>
            </a:r>
            <a:r>
              <a:rPr sz="1200" spc="-4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SAP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BTP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4A5462"/>
                </a:solidFill>
                <a:latin typeface="Verdana"/>
                <a:cs typeface="Verdana"/>
              </a:rPr>
              <a:t>y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Fiori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310" dirty="0">
                <a:solidFill>
                  <a:srgbClr val="4A5462"/>
                </a:solidFill>
                <a:latin typeface="Verdana"/>
                <a:cs typeface="Verdana"/>
              </a:rPr>
              <a:t>+</a:t>
            </a:r>
            <a:r>
              <a:rPr sz="1200" spc="-9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Mejora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de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procesos</a:t>
            </a:r>
            <a:r>
              <a:rPr sz="1200" spc="-9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para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Verdana"/>
                <a:cs typeface="Verdana"/>
              </a:rPr>
              <a:t>una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transformación</a:t>
            </a: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integral.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50416" y="3357117"/>
            <a:ext cx="25431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0" dirty="0">
                <a:solidFill>
                  <a:srgbClr val="1F2937"/>
                </a:solidFill>
                <a:latin typeface="Tahoma"/>
                <a:cs typeface="Tahoma"/>
              </a:rPr>
              <a:t>Certificaciones</a:t>
            </a:r>
            <a:r>
              <a:rPr sz="1500" b="1" spc="185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10" dirty="0">
                <a:solidFill>
                  <a:srgbClr val="1F2937"/>
                </a:solidFill>
                <a:latin typeface="Tahoma"/>
                <a:cs typeface="Tahoma"/>
              </a:rPr>
              <a:t>y</a:t>
            </a:r>
            <a:r>
              <a:rPr sz="1500" b="1" spc="19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1F2937"/>
                </a:solidFill>
                <a:latin typeface="Tahoma"/>
                <a:cs typeface="Tahoma"/>
              </a:rPr>
              <a:t>alianzas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78180" y="3505200"/>
            <a:ext cx="2536190" cy="817244"/>
            <a:chOff x="678180" y="3505200"/>
            <a:chExt cx="2536190" cy="817244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8180" y="3505200"/>
              <a:ext cx="188976" cy="1905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210056" y="3723131"/>
              <a:ext cx="1530350" cy="268605"/>
            </a:xfrm>
            <a:custGeom>
              <a:avLst/>
              <a:gdLst/>
              <a:ahLst/>
              <a:cxnLst/>
              <a:rect l="l" t="t" r="r" b="b"/>
              <a:pathLst>
                <a:path w="1530350" h="268604">
                  <a:moveTo>
                    <a:pt x="638556" y="124206"/>
                  </a:moveTo>
                  <a:lnTo>
                    <a:pt x="628789" y="75869"/>
                  </a:lnTo>
                  <a:lnTo>
                    <a:pt x="602170" y="36385"/>
                  </a:lnTo>
                  <a:lnTo>
                    <a:pt x="562686" y="9766"/>
                  </a:lnTo>
                  <a:lnTo>
                    <a:pt x="514350" y="0"/>
                  </a:lnTo>
                  <a:lnTo>
                    <a:pt x="124206" y="0"/>
                  </a:lnTo>
                  <a:lnTo>
                    <a:pt x="75857" y="9766"/>
                  </a:lnTo>
                  <a:lnTo>
                    <a:pt x="36372" y="36385"/>
                  </a:lnTo>
                  <a:lnTo>
                    <a:pt x="9753" y="75869"/>
                  </a:lnTo>
                  <a:lnTo>
                    <a:pt x="0" y="124206"/>
                  </a:lnTo>
                  <a:lnTo>
                    <a:pt x="9753" y="172554"/>
                  </a:lnTo>
                  <a:lnTo>
                    <a:pt x="36372" y="212026"/>
                  </a:lnTo>
                  <a:lnTo>
                    <a:pt x="75857" y="238658"/>
                  </a:lnTo>
                  <a:lnTo>
                    <a:pt x="124206" y="248412"/>
                  </a:lnTo>
                  <a:lnTo>
                    <a:pt x="514350" y="248412"/>
                  </a:lnTo>
                  <a:lnTo>
                    <a:pt x="562686" y="238658"/>
                  </a:lnTo>
                  <a:lnTo>
                    <a:pt x="602170" y="212026"/>
                  </a:lnTo>
                  <a:lnTo>
                    <a:pt x="628789" y="172554"/>
                  </a:lnTo>
                  <a:lnTo>
                    <a:pt x="638556" y="124206"/>
                  </a:lnTo>
                  <a:close/>
                </a:path>
                <a:path w="1530350" h="268604">
                  <a:moveTo>
                    <a:pt x="1530096" y="144018"/>
                  </a:moveTo>
                  <a:lnTo>
                    <a:pt x="1520329" y="95681"/>
                  </a:lnTo>
                  <a:lnTo>
                    <a:pt x="1493697" y="56197"/>
                  </a:lnTo>
                  <a:lnTo>
                    <a:pt x="1454226" y="29578"/>
                  </a:lnTo>
                  <a:lnTo>
                    <a:pt x="1405890" y="19812"/>
                  </a:lnTo>
                  <a:lnTo>
                    <a:pt x="1034034" y="19812"/>
                  </a:lnTo>
                  <a:lnTo>
                    <a:pt x="985685" y="29578"/>
                  </a:lnTo>
                  <a:lnTo>
                    <a:pt x="946213" y="56197"/>
                  </a:lnTo>
                  <a:lnTo>
                    <a:pt x="919581" y="95681"/>
                  </a:lnTo>
                  <a:lnTo>
                    <a:pt x="909828" y="144018"/>
                  </a:lnTo>
                  <a:lnTo>
                    <a:pt x="919581" y="192366"/>
                  </a:lnTo>
                  <a:lnTo>
                    <a:pt x="946213" y="231838"/>
                  </a:lnTo>
                  <a:lnTo>
                    <a:pt x="985685" y="258470"/>
                  </a:lnTo>
                  <a:lnTo>
                    <a:pt x="1034034" y="268224"/>
                  </a:lnTo>
                  <a:lnTo>
                    <a:pt x="1405890" y="268224"/>
                  </a:lnTo>
                  <a:lnTo>
                    <a:pt x="1454226" y="258470"/>
                  </a:lnTo>
                  <a:lnTo>
                    <a:pt x="1493697" y="231838"/>
                  </a:lnTo>
                  <a:lnTo>
                    <a:pt x="1520329" y="192366"/>
                  </a:lnTo>
                  <a:lnTo>
                    <a:pt x="1530096" y="144018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6083" y="3805483"/>
              <a:ext cx="143256" cy="11411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118360" y="4073651"/>
              <a:ext cx="1096010" cy="248920"/>
            </a:xfrm>
            <a:custGeom>
              <a:avLst/>
              <a:gdLst/>
              <a:ahLst/>
              <a:cxnLst/>
              <a:rect l="l" t="t" r="r" b="b"/>
              <a:pathLst>
                <a:path w="1096010" h="248920">
                  <a:moveTo>
                    <a:pt x="971550" y="0"/>
                  </a:moveTo>
                  <a:lnTo>
                    <a:pt x="124206" y="0"/>
                  </a:lnTo>
                  <a:lnTo>
                    <a:pt x="75866" y="9763"/>
                  </a:lnTo>
                  <a:lnTo>
                    <a:pt x="36385" y="36385"/>
                  </a:lnTo>
                  <a:lnTo>
                    <a:pt x="9763" y="75866"/>
                  </a:lnTo>
                  <a:lnTo>
                    <a:pt x="0" y="124206"/>
                  </a:lnTo>
                  <a:lnTo>
                    <a:pt x="9763" y="172545"/>
                  </a:lnTo>
                  <a:lnTo>
                    <a:pt x="36385" y="212026"/>
                  </a:lnTo>
                  <a:lnTo>
                    <a:pt x="75866" y="238648"/>
                  </a:lnTo>
                  <a:lnTo>
                    <a:pt x="124206" y="248412"/>
                  </a:lnTo>
                  <a:lnTo>
                    <a:pt x="971550" y="248412"/>
                  </a:lnTo>
                  <a:lnTo>
                    <a:pt x="1019889" y="238648"/>
                  </a:lnTo>
                  <a:lnTo>
                    <a:pt x="1059370" y="212026"/>
                  </a:lnTo>
                  <a:lnTo>
                    <a:pt x="1085992" y="172545"/>
                  </a:lnTo>
                  <a:lnTo>
                    <a:pt x="1095756" y="124206"/>
                  </a:lnTo>
                  <a:lnTo>
                    <a:pt x="1085992" y="75866"/>
                  </a:lnTo>
                  <a:lnTo>
                    <a:pt x="1059370" y="36385"/>
                  </a:lnTo>
                  <a:lnTo>
                    <a:pt x="1019889" y="9763"/>
                  </a:lnTo>
                  <a:lnTo>
                    <a:pt x="971550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364994" y="3776217"/>
            <a:ext cx="318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30" dirty="0">
                <a:solidFill>
                  <a:srgbClr val="1790FF"/>
                </a:solidFill>
                <a:latin typeface="Tahoma"/>
                <a:cs typeface="Tahoma"/>
              </a:rPr>
              <a:t>AWS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8796" y="3784091"/>
            <a:ext cx="100013" cy="11430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417447" y="3755897"/>
            <a:ext cx="375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790FF"/>
                </a:solidFill>
                <a:latin typeface="Tahoma"/>
                <a:cs typeface="Tahoma"/>
              </a:rPr>
              <a:t>Azure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161288" y="4076700"/>
            <a:ext cx="1091565" cy="247015"/>
            <a:chOff x="1161288" y="4076700"/>
            <a:chExt cx="1091565" cy="247015"/>
          </a:xfrm>
        </p:grpSpPr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47316" y="4144170"/>
              <a:ext cx="105156" cy="11032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161288" y="4076700"/>
              <a:ext cx="780415" cy="247015"/>
            </a:xfrm>
            <a:custGeom>
              <a:avLst/>
              <a:gdLst/>
              <a:ahLst/>
              <a:cxnLst/>
              <a:rect l="l" t="t" r="r" b="b"/>
              <a:pathLst>
                <a:path w="780414" h="247014">
                  <a:moveTo>
                    <a:pt x="656844" y="0"/>
                  </a:moveTo>
                  <a:lnTo>
                    <a:pt x="123443" y="0"/>
                  </a:lnTo>
                  <a:lnTo>
                    <a:pt x="75395" y="9697"/>
                  </a:lnTo>
                  <a:lnTo>
                    <a:pt x="36156" y="36147"/>
                  </a:lnTo>
                  <a:lnTo>
                    <a:pt x="9701" y="75384"/>
                  </a:lnTo>
                  <a:lnTo>
                    <a:pt x="0" y="123443"/>
                  </a:lnTo>
                  <a:lnTo>
                    <a:pt x="9701" y="171503"/>
                  </a:lnTo>
                  <a:lnTo>
                    <a:pt x="36156" y="210740"/>
                  </a:lnTo>
                  <a:lnTo>
                    <a:pt x="75395" y="237190"/>
                  </a:lnTo>
                  <a:lnTo>
                    <a:pt x="123443" y="246887"/>
                  </a:lnTo>
                  <a:lnTo>
                    <a:pt x="656844" y="246887"/>
                  </a:lnTo>
                  <a:lnTo>
                    <a:pt x="704903" y="237190"/>
                  </a:lnTo>
                  <a:lnTo>
                    <a:pt x="744140" y="210740"/>
                  </a:lnTo>
                  <a:lnTo>
                    <a:pt x="770590" y="171503"/>
                  </a:lnTo>
                  <a:lnTo>
                    <a:pt x="780288" y="123443"/>
                  </a:lnTo>
                  <a:lnTo>
                    <a:pt x="770590" y="75384"/>
                  </a:lnTo>
                  <a:lnTo>
                    <a:pt x="744140" y="36147"/>
                  </a:lnTo>
                  <a:lnTo>
                    <a:pt x="704903" y="9697"/>
                  </a:lnTo>
                  <a:lnTo>
                    <a:pt x="656844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278126" y="4114038"/>
            <a:ext cx="8331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790FF"/>
                </a:solidFill>
                <a:latin typeface="Tahoma"/>
                <a:cs typeface="Tahoma"/>
              </a:rPr>
              <a:t>Google</a:t>
            </a:r>
            <a:r>
              <a:rPr sz="900" b="1" spc="155" dirty="0">
                <a:solidFill>
                  <a:srgbClr val="1790FF"/>
                </a:solidFill>
                <a:latin typeface="Tahoma"/>
                <a:cs typeface="Tahoma"/>
              </a:rPr>
              <a:t> </a:t>
            </a:r>
            <a:r>
              <a:rPr sz="900" b="1" spc="-10" dirty="0">
                <a:solidFill>
                  <a:srgbClr val="1790FF"/>
                </a:solidFill>
                <a:latin typeface="Tahoma"/>
                <a:cs typeface="Tahoma"/>
              </a:rPr>
              <a:t>Cloud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17675" y="4127047"/>
            <a:ext cx="141731" cy="114117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4329562" y="3130174"/>
            <a:ext cx="4028440" cy="1750060"/>
            <a:chOff x="4329562" y="3130174"/>
            <a:chExt cx="4028440" cy="1750060"/>
          </a:xfrm>
        </p:grpSpPr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29562" y="3130174"/>
              <a:ext cx="4028175" cy="174979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408932" y="3171443"/>
              <a:ext cx="3878579" cy="1600200"/>
            </a:xfrm>
            <a:custGeom>
              <a:avLst/>
              <a:gdLst/>
              <a:ahLst/>
              <a:cxnLst/>
              <a:rect l="l" t="t" r="r" b="b"/>
              <a:pathLst>
                <a:path w="3878579" h="1600200">
                  <a:moveTo>
                    <a:pt x="3835018" y="0"/>
                  </a:moveTo>
                  <a:lnTo>
                    <a:pt x="43560" y="0"/>
                  </a:lnTo>
                  <a:lnTo>
                    <a:pt x="26574" y="3413"/>
                  </a:lnTo>
                  <a:lnTo>
                    <a:pt x="12731" y="12731"/>
                  </a:lnTo>
                  <a:lnTo>
                    <a:pt x="3413" y="26574"/>
                  </a:lnTo>
                  <a:lnTo>
                    <a:pt x="0" y="43560"/>
                  </a:lnTo>
                  <a:lnTo>
                    <a:pt x="0" y="1556638"/>
                  </a:lnTo>
                  <a:lnTo>
                    <a:pt x="3413" y="1573571"/>
                  </a:lnTo>
                  <a:lnTo>
                    <a:pt x="12731" y="1587420"/>
                  </a:lnTo>
                  <a:lnTo>
                    <a:pt x="26574" y="1596769"/>
                  </a:lnTo>
                  <a:lnTo>
                    <a:pt x="43560" y="1600199"/>
                  </a:lnTo>
                  <a:lnTo>
                    <a:pt x="3835018" y="1600199"/>
                  </a:lnTo>
                  <a:lnTo>
                    <a:pt x="3852005" y="1596769"/>
                  </a:lnTo>
                  <a:lnTo>
                    <a:pt x="3865848" y="1587420"/>
                  </a:lnTo>
                  <a:lnTo>
                    <a:pt x="3875166" y="1573571"/>
                  </a:lnTo>
                  <a:lnTo>
                    <a:pt x="3878579" y="1556638"/>
                  </a:lnTo>
                  <a:lnTo>
                    <a:pt x="3878579" y="43560"/>
                  </a:lnTo>
                  <a:lnTo>
                    <a:pt x="3875166" y="26574"/>
                  </a:lnTo>
                  <a:lnTo>
                    <a:pt x="3865848" y="12731"/>
                  </a:lnTo>
                  <a:lnTo>
                    <a:pt x="3852005" y="3413"/>
                  </a:lnTo>
                  <a:lnTo>
                    <a:pt x="38350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08932" y="3171443"/>
              <a:ext cx="40005" cy="1600200"/>
            </a:xfrm>
            <a:custGeom>
              <a:avLst/>
              <a:gdLst/>
              <a:ahLst/>
              <a:cxnLst/>
              <a:rect l="l" t="t" r="r" b="b"/>
              <a:pathLst>
                <a:path w="40004" h="1600200">
                  <a:moveTo>
                    <a:pt x="39624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39624" y="1600199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37531" y="3361943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505" y="0"/>
                  </a:moveTo>
                  <a:lnTo>
                    <a:pt x="190445" y="4846"/>
                  </a:lnTo>
                  <a:lnTo>
                    <a:pt x="145678" y="18746"/>
                  </a:lnTo>
                  <a:lnTo>
                    <a:pt x="105165" y="40739"/>
                  </a:lnTo>
                  <a:lnTo>
                    <a:pt x="69865" y="69865"/>
                  </a:lnTo>
                  <a:lnTo>
                    <a:pt x="40739" y="105165"/>
                  </a:lnTo>
                  <a:lnTo>
                    <a:pt x="18746" y="145678"/>
                  </a:lnTo>
                  <a:lnTo>
                    <a:pt x="4846" y="190445"/>
                  </a:lnTo>
                  <a:lnTo>
                    <a:pt x="0" y="238505"/>
                  </a:lnTo>
                  <a:lnTo>
                    <a:pt x="4846" y="286566"/>
                  </a:lnTo>
                  <a:lnTo>
                    <a:pt x="18746" y="331333"/>
                  </a:lnTo>
                  <a:lnTo>
                    <a:pt x="40739" y="371846"/>
                  </a:lnTo>
                  <a:lnTo>
                    <a:pt x="69865" y="407146"/>
                  </a:lnTo>
                  <a:lnTo>
                    <a:pt x="105165" y="436272"/>
                  </a:lnTo>
                  <a:lnTo>
                    <a:pt x="145678" y="458265"/>
                  </a:lnTo>
                  <a:lnTo>
                    <a:pt x="190445" y="472165"/>
                  </a:lnTo>
                  <a:lnTo>
                    <a:pt x="238505" y="477011"/>
                  </a:lnTo>
                  <a:lnTo>
                    <a:pt x="286566" y="472165"/>
                  </a:lnTo>
                  <a:lnTo>
                    <a:pt x="331333" y="458265"/>
                  </a:lnTo>
                  <a:lnTo>
                    <a:pt x="371846" y="436272"/>
                  </a:lnTo>
                  <a:lnTo>
                    <a:pt x="407146" y="407146"/>
                  </a:lnTo>
                  <a:lnTo>
                    <a:pt x="436272" y="371846"/>
                  </a:lnTo>
                  <a:lnTo>
                    <a:pt x="458265" y="331333"/>
                  </a:lnTo>
                  <a:lnTo>
                    <a:pt x="472165" y="286566"/>
                  </a:lnTo>
                  <a:lnTo>
                    <a:pt x="477012" y="238505"/>
                  </a:lnTo>
                  <a:lnTo>
                    <a:pt x="472165" y="190445"/>
                  </a:lnTo>
                  <a:lnTo>
                    <a:pt x="458265" y="145678"/>
                  </a:lnTo>
                  <a:lnTo>
                    <a:pt x="436272" y="105165"/>
                  </a:lnTo>
                  <a:lnTo>
                    <a:pt x="407146" y="69865"/>
                  </a:lnTo>
                  <a:lnTo>
                    <a:pt x="371846" y="40739"/>
                  </a:lnTo>
                  <a:lnTo>
                    <a:pt x="331333" y="18746"/>
                  </a:lnTo>
                  <a:lnTo>
                    <a:pt x="286566" y="4846"/>
                  </a:lnTo>
                  <a:lnTo>
                    <a:pt x="238505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68341" y="3505199"/>
              <a:ext cx="213969" cy="19050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385442" y="4098797"/>
            <a:ext cx="481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790FF"/>
                </a:solidFill>
                <a:latin typeface="Tahoma"/>
                <a:cs typeface="Tahoma"/>
              </a:rPr>
              <a:t>Huawei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254244" y="3357117"/>
            <a:ext cx="25139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2937"/>
                </a:solidFill>
                <a:latin typeface="Tahoma"/>
                <a:cs typeface="Tahoma"/>
              </a:rPr>
              <a:t>Sectores</a:t>
            </a:r>
            <a:r>
              <a:rPr sz="1500" b="1" spc="145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65" dirty="0">
                <a:solidFill>
                  <a:srgbClr val="1F2937"/>
                </a:solidFill>
                <a:latin typeface="Tahoma"/>
                <a:cs typeface="Tahoma"/>
              </a:rPr>
              <a:t>que</a:t>
            </a:r>
            <a:r>
              <a:rPr sz="1500" b="1" spc="13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45" dirty="0">
                <a:solidFill>
                  <a:srgbClr val="1F2937"/>
                </a:solidFill>
                <a:latin typeface="Tahoma"/>
                <a:cs typeface="Tahoma"/>
              </a:rPr>
              <a:t>atendemos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266944" y="3781044"/>
            <a:ext cx="1472565" cy="762000"/>
            <a:chOff x="5266944" y="3781044"/>
            <a:chExt cx="1472565" cy="762000"/>
          </a:xfrm>
        </p:grpSpPr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66944" y="3781044"/>
              <a:ext cx="170573" cy="1524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66916" y="3781044"/>
              <a:ext cx="172097" cy="1524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66944" y="4085844"/>
              <a:ext cx="170573" cy="15392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66916" y="4085844"/>
              <a:ext cx="153924" cy="1539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66944" y="4390644"/>
              <a:ext cx="152400" cy="1524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66916" y="4390644"/>
              <a:ext cx="172097" cy="15240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5482844" y="3740911"/>
            <a:ext cx="1028700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74151"/>
                </a:solidFill>
                <a:latin typeface="Verdana"/>
                <a:cs typeface="Verdana"/>
              </a:rPr>
              <a:t>Retail</a:t>
            </a:r>
            <a:endParaRPr sz="1200">
              <a:latin typeface="Verdana"/>
              <a:cs typeface="Verdana"/>
            </a:endParaRPr>
          </a:p>
          <a:p>
            <a:pPr marL="12700" marR="5715" indent="19050">
              <a:lnSpc>
                <a:spcPct val="166500"/>
              </a:lnSpc>
            </a:pPr>
            <a:r>
              <a:rPr sz="1200" spc="-10" dirty="0">
                <a:solidFill>
                  <a:srgbClr val="374151"/>
                </a:solidFill>
                <a:latin typeface="Verdana"/>
                <a:cs typeface="Verdana"/>
              </a:rPr>
              <a:t>Manufactura Finanzas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84340" y="3740911"/>
            <a:ext cx="692785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74151"/>
                </a:solidFill>
                <a:latin typeface="Verdana"/>
                <a:cs typeface="Verdana"/>
              </a:rPr>
              <a:t>Minería</a:t>
            </a:r>
            <a:endParaRPr sz="1200">
              <a:latin typeface="Verdana"/>
              <a:cs typeface="Verdana"/>
            </a:endParaRPr>
          </a:p>
          <a:p>
            <a:pPr marL="31750" marR="5080" indent="-19685">
              <a:lnSpc>
                <a:spcPct val="166500"/>
              </a:lnSpc>
            </a:pPr>
            <a:r>
              <a:rPr sz="1200" spc="-25" dirty="0">
                <a:solidFill>
                  <a:srgbClr val="374151"/>
                </a:solidFill>
                <a:latin typeface="Verdana"/>
                <a:cs typeface="Verdana"/>
              </a:rPr>
              <a:t>Servicios </a:t>
            </a:r>
            <a:r>
              <a:rPr sz="1200" spc="-20" dirty="0">
                <a:solidFill>
                  <a:srgbClr val="374151"/>
                </a:solidFill>
                <a:latin typeface="Verdana"/>
                <a:cs typeface="Verdana"/>
              </a:rPr>
              <a:t>Salud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38074" y="4935982"/>
            <a:ext cx="11252200" cy="833119"/>
            <a:chOff x="338074" y="4935982"/>
            <a:chExt cx="11252200" cy="833119"/>
          </a:xfrm>
        </p:grpSpPr>
        <p:sp>
          <p:nvSpPr>
            <p:cNvPr id="59" name="object 59"/>
            <p:cNvSpPr/>
            <p:nvPr/>
          </p:nvSpPr>
          <p:spPr>
            <a:xfrm>
              <a:off x="344424" y="4942332"/>
              <a:ext cx="11239500" cy="820419"/>
            </a:xfrm>
            <a:custGeom>
              <a:avLst/>
              <a:gdLst/>
              <a:ahLst/>
              <a:cxnLst/>
              <a:rect l="l" t="t" r="r" b="b"/>
              <a:pathLst>
                <a:path w="11239500" h="820420">
                  <a:moveTo>
                    <a:pt x="11154410" y="0"/>
                  </a:moveTo>
                  <a:lnTo>
                    <a:pt x="85115" y="0"/>
                  </a:lnTo>
                  <a:lnTo>
                    <a:pt x="51986" y="6687"/>
                  </a:lnTo>
                  <a:lnTo>
                    <a:pt x="24931" y="24923"/>
                  </a:lnTo>
                  <a:lnTo>
                    <a:pt x="6689" y="51970"/>
                  </a:lnTo>
                  <a:lnTo>
                    <a:pt x="0" y="85090"/>
                  </a:lnTo>
                  <a:lnTo>
                    <a:pt x="0" y="734796"/>
                  </a:lnTo>
                  <a:lnTo>
                    <a:pt x="6689" y="767925"/>
                  </a:lnTo>
                  <a:lnTo>
                    <a:pt x="24931" y="794980"/>
                  </a:lnTo>
                  <a:lnTo>
                    <a:pt x="51986" y="813222"/>
                  </a:lnTo>
                  <a:lnTo>
                    <a:pt x="85115" y="819912"/>
                  </a:lnTo>
                  <a:lnTo>
                    <a:pt x="11154410" y="819912"/>
                  </a:lnTo>
                  <a:lnTo>
                    <a:pt x="11187529" y="813222"/>
                  </a:lnTo>
                  <a:lnTo>
                    <a:pt x="11214576" y="794980"/>
                  </a:lnTo>
                  <a:lnTo>
                    <a:pt x="11232812" y="767925"/>
                  </a:lnTo>
                  <a:lnTo>
                    <a:pt x="11239500" y="734796"/>
                  </a:lnTo>
                  <a:lnTo>
                    <a:pt x="11239500" y="85090"/>
                  </a:lnTo>
                  <a:lnTo>
                    <a:pt x="11232812" y="51970"/>
                  </a:lnTo>
                  <a:lnTo>
                    <a:pt x="11214576" y="24923"/>
                  </a:lnTo>
                  <a:lnTo>
                    <a:pt x="11187529" y="6687"/>
                  </a:lnTo>
                  <a:lnTo>
                    <a:pt x="11154410" y="0"/>
                  </a:lnTo>
                  <a:close/>
                </a:path>
              </a:pathLst>
            </a:custGeom>
            <a:solidFill>
              <a:srgbClr val="EE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44424" y="4942332"/>
              <a:ext cx="11239500" cy="820419"/>
            </a:xfrm>
            <a:custGeom>
              <a:avLst/>
              <a:gdLst/>
              <a:ahLst/>
              <a:cxnLst/>
              <a:rect l="l" t="t" r="r" b="b"/>
              <a:pathLst>
                <a:path w="11239500" h="820420">
                  <a:moveTo>
                    <a:pt x="0" y="85090"/>
                  </a:moveTo>
                  <a:lnTo>
                    <a:pt x="6689" y="51970"/>
                  </a:lnTo>
                  <a:lnTo>
                    <a:pt x="24931" y="24923"/>
                  </a:lnTo>
                  <a:lnTo>
                    <a:pt x="51986" y="6687"/>
                  </a:lnTo>
                  <a:lnTo>
                    <a:pt x="85115" y="0"/>
                  </a:lnTo>
                  <a:lnTo>
                    <a:pt x="11154410" y="0"/>
                  </a:lnTo>
                  <a:lnTo>
                    <a:pt x="11187529" y="6687"/>
                  </a:lnTo>
                  <a:lnTo>
                    <a:pt x="11214576" y="24923"/>
                  </a:lnTo>
                  <a:lnTo>
                    <a:pt x="11232812" y="51970"/>
                  </a:lnTo>
                  <a:lnTo>
                    <a:pt x="11239500" y="85090"/>
                  </a:lnTo>
                  <a:lnTo>
                    <a:pt x="11239500" y="734796"/>
                  </a:lnTo>
                  <a:lnTo>
                    <a:pt x="11232812" y="767925"/>
                  </a:lnTo>
                  <a:lnTo>
                    <a:pt x="11214576" y="794980"/>
                  </a:lnTo>
                  <a:lnTo>
                    <a:pt x="11187529" y="813222"/>
                  </a:lnTo>
                  <a:lnTo>
                    <a:pt x="11154410" y="819912"/>
                  </a:lnTo>
                  <a:lnTo>
                    <a:pt x="85115" y="819912"/>
                  </a:lnTo>
                  <a:lnTo>
                    <a:pt x="51986" y="813222"/>
                  </a:lnTo>
                  <a:lnTo>
                    <a:pt x="24931" y="794980"/>
                  </a:lnTo>
                  <a:lnTo>
                    <a:pt x="6689" y="767925"/>
                  </a:lnTo>
                  <a:lnTo>
                    <a:pt x="0" y="734796"/>
                  </a:lnTo>
                  <a:lnTo>
                    <a:pt x="0" y="85090"/>
                  </a:lnTo>
                  <a:close/>
                </a:path>
              </a:pathLst>
            </a:custGeom>
            <a:ln w="12699">
              <a:solidFill>
                <a:srgbClr val="BEDB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5968" y="5256276"/>
              <a:ext cx="190500" cy="1905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10768" y="5408676"/>
              <a:ext cx="152400" cy="1524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82240" y="5408676"/>
              <a:ext cx="152400" cy="152400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798372" y="5018404"/>
            <a:ext cx="4169410" cy="55753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200" b="1" spc="45" dirty="0">
                <a:solidFill>
                  <a:srgbClr val="1F2937"/>
                </a:solidFill>
                <a:latin typeface="Tahoma"/>
                <a:cs typeface="Tahoma"/>
              </a:rPr>
              <a:t>Enfoque</a:t>
            </a:r>
            <a:r>
              <a:rPr sz="1200" b="1" spc="75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200" b="1" spc="50" dirty="0">
                <a:solidFill>
                  <a:srgbClr val="1F2937"/>
                </a:solidFill>
                <a:latin typeface="Tahoma"/>
                <a:cs typeface="Tahoma"/>
              </a:rPr>
              <a:t>en</a:t>
            </a:r>
            <a:r>
              <a:rPr sz="1200" b="1" spc="9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1F2937"/>
                </a:solidFill>
                <a:latin typeface="Tahoma"/>
                <a:cs typeface="Tahoma"/>
              </a:rPr>
              <a:t>resultados</a:t>
            </a:r>
            <a:r>
              <a:rPr sz="1200" b="1" spc="8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1F2937"/>
                </a:solidFill>
                <a:latin typeface="Tahoma"/>
                <a:cs typeface="Tahoma"/>
              </a:rPr>
              <a:t>medibles</a:t>
            </a:r>
            <a:endParaRPr sz="12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655"/>
              </a:spcBef>
              <a:tabLst>
                <a:tab pos="2112010" algn="l"/>
              </a:tabLst>
            </a:pP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Valor</a:t>
            </a:r>
            <a:r>
              <a:rPr sz="1200" spc="-11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cuantificable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	Seguridad</a:t>
            </a:r>
            <a:r>
              <a:rPr sz="1200" spc="-6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y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cumplimiento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65" name="object 6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178552" y="5408676"/>
            <a:ext cx="153924" cy="152400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5395721" y="5367654"/>
            <a:ext cx="1884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Time-</a:t>
            </a:r>
            <a:r>
              <a:rPr sz="1200" spc="-30" dirty="0">
                <a:solidFill>
                  <a:srgbClr val="4A5462"/>
                </a:solidFill>
                <a:latin typeface="Verdana"/>
                <a:cs typeface="Verdana"/>
              </a:rPr>
              <a:t>to-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value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acelerado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67" name="object 6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51164" y="1850135"/>
            <a:ext cx="3505200" cy="2471928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05968" y="6123430"/>
            <a:ext cx="1024128" cy="638556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915728" y="6345870"/>
            <a:ext cx="628688" cy="211803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96940" y="6337646"/>
            <a:ext cx="1003970" cy="211272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889238" y="6358126"/>
            <a:ext cx="828569" cy="23929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333744" y="6252986"/>
            <a:ext cx="905255" cy="467853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662671" y="6198108"/>
            <a:ext cx="681227" cy="521208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767571" y="6198108"/>
            <a:ext cx="883920" cy="429768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144553" y="6343089"/>
            <a:ext cx="1087526" cy="170285"/>
          </a:xfrm>
          <a:prstGeom prst="rect">
            <a:avLst/>
          </a:prstGeom>
        </p:spPr>
      </p:pic>
      <p:sp>
        <p:nvSpPr>
          <p:cNvPr id="76" name="Shape 53">
            <a:extLst>
              <a:ext uri="{FF2B5EF4-FFF2-40B4-BE49-F238E27FC236}">
                <a16:creationId xmlns:a16="http://schemas.microsoft.com/office/drawing/2014/main" id="{6A13462B-904A-4818-87F5-EAF4A98E5FAE}"/>
              </a:ext>
            </a:extLst>
          </p:cNvPr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54">
            <a:extLst>
              <a:ext uri="{FF2B5EF4-FFF2-40B4-BE49-F238E27FC236}">
                <a16:creationId xmlns:a16="http://schemas.microsoft.com/office/drawing/2014/main" id="{B43F332F-D78C-4950-B5AA-29CECAEBD201}"/>
              </a:ext>
            </a:extLst>
          </p:cNvPr>
          <p:cNvSpPr txBox="1"/>
          <p:nvPr/>
        </p:nvSpPr>
        <p:spPr>
          <a:xfrm>
            <a:off x="286207" y="118872"/>
            <a:ext cx="359725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¿Quienes somos?</a:t>
            </a:r>
            <a:endParaRPr lang="en-US" sz="2400" dirty="0"/>
          </a:p>
        </p:txBody>
      </p:sp>
      <p:grpSp>
        <p:nvGrpSpPr>
          <p:cNvPr id="16" name="object 16"/>
          <p:cNvGrpSpPr/>
          <p:nvPr/>
        </p:nvGrpSpPr>
        <p:grpSpPr>
          <a:xfrm>
            <a:off x="5867400" y="24383"/>
            <a:ext cx="6315710" cy="1600200"/>
            <a:chOff x="5867400" y="24383"/>
            <a:chExt cx="6315710" cy="1600200"/>
          </a:xfrm>
        </p:grpSpPr>
        <p:sp>
          <p:nvSpPr>
            <p:cNvPr id="17" name="object 17"/>
            <p:cNvSpPr/>
            <p:nvPr/>
          </p:nvSpPr>
          <p:spPr>
            <a:xfrm>
              <a:off x="5867400" y="1844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952997" y="298704"/>
              <a:ext cx="286054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125200" y="24383"/>
              <a:ext cx="1057655" cy="16001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761695"/>
            <a:ext cx="11430000" cy="676657"/>
          </a:xfrm>
          <a:prstGeom prst="roundRect">
            <a:avLst>
              <a:gd name="adj" fmla="val 2566"/>
            </a:avLst>
          </a:prstGeom>
          <a:solidFill>
            <a:srgbClr val="F0F8FF"/>
          </a:solidFill>
          <a:ln/>
        </p:spPr>
      </p:sp>
      <p:sp>
        <p:nvSpPr>
          <p:cNvPr id="5" name="Shape 2"/>
          <p:cNvSpPr/>
          <p:nvPr/>
        </p:nvSpPr>
        <p:spPr>
          <a:xfrm>
            <a:off x="381305" y="761696"/>
            <a:ext cx="45719" cy="691286"/>
          </a:xfrm>
          <a:prstGeom prst="roundRect">
            <a:avLst>
              <a:gd name="adj" fmla="val 88928"/>
            </a:avLst>
          </a:prstGeom>
          <a:solidFill>
            <a:srgbClr val="1890FF"/>
          </a:solidFill>
          <a:ln w="12700">
            <a:solidFill>
              <a:srgbClr val="1890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1149" y="758875"/>
            <a:ext cx="11116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Experiencia de Usuario Inteligente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0351" y="954176"/>
            <a:ext cx="11077956" cy="5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Fiori es el sistema de diseño moderno que lleva la experiencia de usuario de consumo a las aplicaciones empresariales SAP. Simplifica la operación diaria, reduce errores y permite trabajar desde cualquier dispositivo con una interfaz intuitiva y coherente.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381457" y="1565909"/>
            <a:ext cx="219456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5096" y="1565909"/>
            <a:ext cx="2628900" cy="400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Principios de Diseño UX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81457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81457" y="2109063"/>
            <a:ext cx="2152498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229106" y="2308402"/>
            <a:ext cx="476402" cy="47640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324203" y="2432760"/>
            <a:ext cx="286207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5757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Basado en Roles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95757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Diseñado para las necesidades y tareas específicas de cada usuario.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695803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695803" y="2109063"/>
            <a:ext cx="2152498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543452" y="2308402"/>
            <a:ext cx="476402" cy="47640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2810103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Adaptable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2811018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Funciona en cualquier dispositivo: escritorio, tablet o móvil.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010150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010150" y="2109063"/>
            <a:ext cx="2152498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857798" y="2308402"/>
            <a:ext cx="476402" cy="47640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82157" y="243276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124450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125364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enfoca en lo esencial. 1 usuario, 1 escenario, 3 pantallas.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324496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324496" y="2109063"/>
            <a:ext cx="2152498" cy="38405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173059" y="2308402"/>
            <a:ext cx="476402" cy="47640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8281873" y="2432760"/>
            <a:ext cx="256946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438796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Coherente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439710" y="3232860"/>
            <a:ext cx="194218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Lenguaje visual y flujos de interacción unificados en toda la suite.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9639757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9639757" y="2109063"/>
            <a:ext cx="2152498" cy="38405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487406" y="2308402"/>
            <a:ext cx="476402" cy="47640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610850" y="2432760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754057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Agradable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9754057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Proporciona una conexión emocional y mejora la satisfacción.</a:t>
            </a:r>
            <a:endParaRPr lang="en-US" sz="9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t="-5" b="-5"/>
          <a:stretch/>
        </p:blipFill>
        <p:spPr>
          <a:xfrm>
            <a:off x="392430" y="4157319"/>
            <a:ext cx="4922520" cy="2609241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1769" y="4547768"/>
            <a:ext cx="171907" cy="17190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58774" y="4357573"/>
            <a:ext cx="21058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 en el Negocio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591769" y="5052517"/>
            <a:ext cx="6277356" cy="599846"/>
          </a:xfrm>
          <a:prstGeom prst="roundRect">
            <a:avLst>
              <a:gd name="adj" fmla="val 290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668579" y="519973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54532" y="5285689"/>
            <a:ext cx="133502" cy="133502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087374" y="5261914"/>
            <a:ext cx="32653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Mayor productividad y eficiencia operativa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591769" y="5547588"/>
            <a:ext cx="6277356" cy="599846"/>
          </a:xfrm>
          <a:prstGeom prst="roundRect">
            <a:avLst>
              <a:gd name="adj" fmla="val 290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668579" y="5695721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54532" y="5780760"/>
            <a:ext cx="133502" cy="133502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87374" y="5756986"/>
            <a:ext cx="32872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Adopción de usuarios más rápida y natural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591769" y="6118860"/>
            <a:ext cx="6277356" cy="599846"/>
          </a:xfrm>
          <a:prstGeom prst="roundRect">
            <a:avLst>
              <a:gd name="adj" fmla="val 290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668579" y="626699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735330" y="6352946"/>
            <a:ext cx="171907" cy="133502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1087374" y="6329172"/>
            <a:ext cx="392643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Reducción significativa de costos de entrenamiento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7246620" y="4209440"/>
            <a:ext cx="4572000" cy="2557120"/>
          </a:xfrm>
          <a:prstGeom prst="roundRect">
            <a:avLst>
              <a:gd name="adj" fmla="val 875"/>
            </a:avLst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11256264" y="5885993"/>
            <a:ext cx="952805" cy="95280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4"/>
          <a:srcRect l="-1064" r="-1064"/>
          <a:stretch/>
        </p:blipFill>
        <p:spPr>
          <a:xfrm>
            <a:off x="7370901" y="4377920"/>
            <a:ext cx="219456" cy="171907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7685455" y="4187724"/>
            <a:ext cx="2477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&amp; Integración</a:t>
            </a:r>
            <a:endParaRPr lang="en-US" sz="1300" dirty="0"/>
          </a:p>
        </p:txBody>
      </p:sp>
      <p:sp>
        <p:nvSpPr>
          <p:cNvPr id="58" name="Shape 44"/>
          <p:cNvSpPr/>
          <p:nvPr/>
        </p:nvSpPr>
        <p:spPr>
          <a:xfrm>
            <a:off x="7475676" y="4626939"/>
            <a:ext cx="4190695" cy="553212"/>
          </a:xfrm>
          <a:prstGeom prst="roundRect">
            <a:avLst>
              <a:gd name="adj" fmla="val 1361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580832" y="4793132"/>
            <a:ext cx="237744" cy="190195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7913674" y="4687976"/>
            <a:ext cx="27934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BTP</a:t>
            </a:r>
            <a:endParaRPr lang="en-US" sz="1000" dirty="0"/>
          </a:p>
        </p:txBody>
      </p:sp>
      <p:sp>
        <p:nvSpPr>
          <p:cNvPr id="61" name="Text 46"/>
          <p:cNvSpPr txBox="1"/>
          <p:nvPr/>
        </p:nvSpPr>
        <p:spPr>
          <a:xfrm>
            <a:off x="7913674" y="4973269"/>
            <a:ext cx="319674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Technology Platform como base de extensión</a:t>
            </a:r>
            <a:endParaRPr lang="en-US" sz="800" dirty="0"/>
          </a:p>
        </p:txBody>
      </p:sp>
      <p:sp>
        <p:nvSpPr>
          <p:cNvPr id="62" name="Shape 47"/>
          <p:cNvSpPr/>
          <p:nvPr/>
        </p:nvSpPr>
        <p:spPr>
          <a:xfrm>
            <a:off x="7475676" y="5341923"/>
            <a:ext cx="4190695" cy="505206"/>
          </a:xfrm>
          <a:prstGeom prst="roundRect">
            <a:avLst>
              <a:gd name="adj" fmla="val 1361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16"/>
          <a:srcRect l="-1648" r="-1648"/>
          <a:stretch/>
        </p:blipFill>
        <p:spPr>
          <a:xfrm>
            <a:off x="7580832" y="5446164"/>
            <a:ext cx="171907" cy="190195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7847837" y="5341923"/>
            <a:ext cx="26252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HANA</a:t>
            </a:r>
            <a:endParaRPr lang="en-US" sz="1000" dirty="0"/>
          </a:p>
        </p:txBody>
      </p:sp>
      <p:sp>
        <p:nvSpPr>
          <p:cNvPr id="65" name="Text 49"/>
          <p:cNvSpPr txBox="1"/>
          <p:nvPr/>
        </p:nvSpPr>
        <p:spPr>
          <a:xfrm>
            <a:off x="7847837" y="5627216"/>
            <a:ext cx="300380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Potencia en tiempo real para aplicaciones analíticas</a:t>
            </a:r>
            <a:endParaRPr lang="en-US" sz="800" dirty="0"/>
          </a:p>
        </p:txBody>
      </p:sp>
      <p:sp>
        <p:nvSpPr>
          <p:cNvPr id="66" name="Shape 50"/>
          <p:cNvSpPr/>
          <p:nvPr/>
        </p:nvSpPr>
        <p:spPr>
          <a:xfrm>
            <a:off x="7505548" y="6034278"/>
            <a:ext cx="4190695" cy="519454"/>
          </a:xfrm>
          <a:prstGeom prst="roundRect">
            <a:avLst>
              <a:gd name="adj" fmla="val 1361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610704" y="6189953"/>
            <a:ext cx="190195" cy="190195"/>
          </a:xfrm>
          <a:prstGeom prst="rect">
            <a:avLst/>
          </a:prstGeom>
        </p:spPr>
      </p:pic>
      <p:sp>
        <p:nvSpPr>
          <p:cNvPr id="68" name="Text 51"/>
          <p:cNvSpPr txBox="1"/>
          <p:nvPr/>
        </p:nvSpPr>
        <p:spPr>
          <a:xfrm>
            <a:off x="7895997" y="6084797"/>
            <a:ext cx="232806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69" name="Text 52"/>
          <p:cNvSpPr txBox="1"/>
          <p:nvPr/>
        </p:nvSpPr>
        <p:spPr>
          <a:xfrm>
            <a:off x="7895997" y="6371005"/>
            <a:ext cx="266456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de identidades y accesos centralizada</a:t>
            </a:r>
            <a:endParaRPr lang="en-US" sz="800" dirty="0"/>
          </a:p>
        </p:txBody>
      </p:sp>
      <p:sp>
        <p:nvSpPr>
          <p:cNvPr id="70" name="Shape 53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4"/>
          <p:cNvSpPr txBox="1"/>
          <p:nvPr/>
        </p:nvSpPr>
        <p:spPr>
          <a:xfrm>
            <a:off x="286207" y="118872"/>
            <a:ext cx="359725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es SAP Fiori?</a:t>
            </a:r>
            <a:endParaRPr lang="en-US" sz="2400" dirty="0"/>
          </a:p>
        </p:txBody>
      </p:sp>
      <p:pic>
        <p:nvPicPr>
          <p:cNvPr id="72" name="Image 15" descr="preencoded.png"/>
          <p:cNvPicPr>
            <a:picLocks noChangeAspect="1"/>
          </p:cNvPicPr>
          <p:nvPr/>
        </p:nvPicPr>
        <p:blipFill>
          <a:blip r:embed="rId18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-5488" y="26061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0"/>
            <a:ext cx="42391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Propuesta de Valor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75" dirty="0">
                <a:solidFill>
                  <a:schemeClr val="accent5"/>
                </a:solidFill>
                <a:latin typeface="Montserrat" pitchFamily="34" charset="0"/>
              </a:rPr>
              <a:t>PORTAL DOCUMENTO SOPORTE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09905" y="1114654"/>
            <a:ext cx="5296205" cy="17145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19049" y="1123798"/>
            <a:ext cx="57607" cy="16952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t="-103" b="-103"/>
          <a:stretch/>
        </p:blipFill>
        <p:spPr>
          <a:xfrm>
            <a:off x="1076249" y="1429207"/>
            <a:ext cx="267919" cy="6099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96366" y="1619402"/>
            <a:ext cx="228600" cy="2286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573682" y="1429207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Robustez On-Premise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1573682" y="1772107"/>
            <a:ext cx="40965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Basado en su motor actual SAP HANA, aprovechando toda la lógica y configuración existente sin migraciones ni reemplazos disruptivos.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286500" y="1114654"/>
            <a:ext cx="5296205" cy="171450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295644" y="1123798"/>
            <a:ext cx="57607" cy="1695298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6752844" y="1429207"/>
            <a:ext cx="287122" cy="60990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6768389" y="1619402"/>
            <a:ext cx="256946" cy="228600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7269480" y="1429207"/>
            <a:ext cx="4114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Innovación en UX</a:t>
            </a:r>
            <a:endParaRPr lang="en-US" sz="1500" dirty="0"/>
          </a:p>
        </p:txBody>
      </p:sp>
      <p:sp>
        <p:nvSpPr>
          <p:cNvPr id="21" name="Text 9"/>
          <p:cNvSpPr txBox="1"/>
          <p:nvPr/>
        </p:nvSpPr>
        <p:spPr>
          <a:xfrm>
            <a:off x="7269480" y="1772107"/>
            <a:ext cx="40773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Interfaz 100% Fiori que brinda una experiencia de usuario moderna, limpia y orientada a roles, adoptando funcionales de procesos </a:t>
            </a:r>
            <a:r>
              <a:rPr lang="en-US" sz="1200" dirty="0" err="1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documentales</a:t>
            </a: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la DIAN.</a:t>
            </a:r>
            <a:endParaRPr lang="en-US" sz="12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09905" y="2924318"/>
            <a:ext cx="5296205" cy="171450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19049" y="2934376"/>
            <a:ext cx="57607" cy="1695298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t="-48" b="-48"/>
          <a:stretch/>
        </p:blipFill>
        <p:spPr>
          <a:xfrm>
            <a:off x="1076249" y="3238872"/>
            <a:ext cx="261518" cy="609905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107338" y="3429981"/>
            <a:ext cx="200254" cy="228600"/>
          </a:xfrm>
          <a:prstGeom prst="rect">
            <a:avLst/>
          </a:prstGeom>
        </p:spPr>
      </p:pic>
      <p:sp>
        <p:nvSpPr>
          <p:cNvPr id="26" name="Text 10"/>
          <p:cNvSpPr txBox="1"/>
          <p:nvPr/>
        </p:nvSpPr>
        <p:spPr>
          <a:xfrm>
            <a:off x="1566367" y="3238872"/>
            <a:ext cx="4144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Cumplimiento</a:t>
            </a: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Normativo</a:t>
            </a:r>
            <a:endParaRPr lang="en-US" sz="1500" dirty="0"/>
          </a:p>
        </p:txBody>
      </p:sp>
      <p:sp>
        <p:nvSpPr>
          <p:cNvPr id="27" name="Text 11"/>
          <p:cNvSpPr txBox="1"/>
          <p:nvPr/>
        </p:nvSpPr>
        <p:spPr>
          <a:xfrm>
            <a:off x="1566367" y="3581772"/>
            <a:ext cx="4105656" cy="836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Diseño adaptativo total (Responsive). Empodere a sus usuarios para cargar, revisar o aprobar Documentos Soporte desde cualquier dispositivo móvil y en cualquier lugar, bajo los más altos estándares de seguridad.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286500" y="2924318"/>
            <a:ext cx="5296205" cy="171450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295644" y="2934376"/>
            <a:ext cx="57607" cy="1695298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2"/>
          <a:srcRect l="-6" r="-6"/>
          <a:stretch/>
        </p:blipFill>
        <p:spPr>
          <a:xfrm>
            <a:off x="6752844" y="3238872"/>
            <a:ext cx="299923" cy="609905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788506" y="3429981"/>
            <a:ext cx="228600" cy="228600"/>
          </a:xfrm>
          <a:prstGeom prst="rect">
            <a:avLst/>
          </a:prstGeom>
        </p:spPr>
      </p:pic>
      <p:sp>
        <p:nvSpPr>
          <p:cNvPr id="32" name="Text 12"/>
          <p:cNvSpPr txBox="1"/>
          <p:nvPr/>
        </p:nvSpPr>
        <p:spPr>
          <a:xfrm>
            <a:off x="7281367" y="3238872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Costo-Beneficio</a:t>
            </a:r>
            <a:endParaRPr lang="en-US" sz="1500" dirty="0"/>
          </a:p>
        </p:txBody>
      </p:sp>
      <p:sp>
        <p:nvSpPr>
          <p:cNvPr id="33" name="Text 13"/>
          <p:cNvSpPr txBox="1"/>
          <p:nvPr/>
        </p:nvSpPr>
        <p:spPr>
          <a:xfrm>
            <a:off x="7281367" y="3581772"/>
            <a:ext cx="406725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Capitalice su infraestructura tecnológica actual. Entregamos una solución de vanguardia sin incurrir en los altos costos recurrentes de licenciamiento por usuario en la nube.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4756558" y="4960178"/>
            <a:ext cx="6826147" cy="1438351"/>
          </a:xfrm>
          <a:prstGeom prst="roundRect">
            <a:avLst>
              <a:gd name="adj" fmla="val 1103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4"/>
          <a:srcRect l="-20" r="-20"/>
          <a:stretch/>
        </p:blipFill>
        <p:spPr>
          <a:xfrm>
            <a:off x="5203755" y="5399471"/>
            <a:ext cx="381305" cy="457200"/>
          </a:xfrm>
          <a:prstGeom prst="rect">
            <a:avLst/>
          </a:prstGeom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1282" r="-1282"/>
          <a:stretch/>
        </p:blipFill>
        <p:spPr>
          <a:xfrm>
            <a:off x="5285137" y="5532973"/>
            <a:ext cx="219456" cy="190195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5770487" y="5134423"/>
            <a:ext cx="3953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Características Adicionales de la Solución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38" name="Text 16"/>
          <p:cNvSpPr txBox="1"/>
          <p:nvPr/>
        </p:nvSpPr>
        <p:spPr>
          <a:xfrm>
            <a:off x="5710429" y="5399471"/>
            <a:ext cx="5765644" cy="69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Incluye personalización avanzada con </a:t>
            </a:r>
            <a:r>
              <a:rPr lang="en-US" sz="12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Fiori Spaces &amp; Pages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Theming Quartz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un aspecto corporativo actual y cumplimiento de normativas de </a:t>
            </a:r>
            <a:r>
              <a:rPr lang="en-US" sz="12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accesibilidad AA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200" dirty="0"/>
          </a:p>
        </p:txBody>
      </p:sp>
      <p:pic>
        <p:nvPicPr>
          <p:cNvPr id="39" name="Image 15" descr="preencoded.png">
            <a:extLst>
              <a:ext uri="{FF2B5EF4-FFF2-40B4-BE49-F238E27FC236}">
                <a16:creationId xmlns:a16="http://schemas.microsoft.com/office/drawing/2014/main" id="{16B956DB-C9C9-48E2-89AE-1940868B4F10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7059279D-CAB4-4947-8EDE-40B5983D760D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7785" b="7785"/>
          <a:stretch/>
        </p:blipFill>
        <p:spPr>
          <a:xfrm>
            <a:off x="715928" y="4829927"/>
            <a:ext cx="3155091" cy="17747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305" y="1467155"/>
            <a:ext cx="6637630" cy="464789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24205" y="1752905"/>
            <a:ext cx="61063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Centro de Mando </a:t>
            </a:r>
            <a:r>
              <a:rPr lang="en-US" b="1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Financiero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724204" y="2210105"/>
            <a:ext cx="62298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Empodere a sus áreas contable y tributaria con una visión clara, interactiva y auditable de su gestión del Documento Soporte, basada en datos en vivo de su ERP SAP.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724205" y="297180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9186" y="3047695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78662" y="2933395"/>
            <a:ext cx="5658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Gráficos Dinámicos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1178662" y="3161995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Monitoreo en tiempo real del volumen de emisión, tasas de aceptación DIAN y concentración de gastos en proveedores no obligados a facturar.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724205" y="3847795"/>
            <a:ext cx="295351" cy="304495"/>
          </a:xfrm>
          <a:prstGeom prst="roundRect">
            <a:avLst>
              <a:gd name="adj" fmla="val 79896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820217" y="3924605"/>
            <a:ext cx="95098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64946" y="3810305"/>
            <a:ext cx="5667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Capacidad de Drill-down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1164946" y="4077310"/>
            <a:ext cx="56299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Trazabilidad total en un clic. Navegue directamente desde el indicador gráfico hasta el documento contable, de compras o logístico origen en SAP.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24205" y="472470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0100" y="4800600"/>
            <a:ext cx="152705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181405" y="4686300"/>
            <a:ext cx="5201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Filtros Interactivos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1181405" y="4976903"/>
            <a:ext cx="5772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Segmentación estratégica de la información por periodo fiscal, sociedad, centro de costo o estado de transmisión ante la entidad regulatoria.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724205" y="537210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0100" y="5447995"/>
            <a:ext cx="152705" cy="1527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181405" y="5333695"/>
            <a:ext cx="4668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Tarjetas Informativas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1181405" y="5636801"/>
            <a:ext cx="5239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Identificación proactiva: alertas de documentos rechazados, incidencias de transmisión y contingencias pendientes de resolución.</a:t>
            </a: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rcRect t="-5" b="-5"/>
          <a:stretch/>
        </p:blipFill>
        <p:spPr>
          <a:xfrm>
            <a:off x="7552030" y="1067105"/>
            <a:ext cx="4258361" cy="5410505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790688" y="1724558"/>
            <a:ext cx="3791102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7790688" y="1304849"/>
            <a:ext cx="172364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</a:t>
            </a:r>
            <a:r>
              <a:rPr lang="en-US" sz="1300" b="1" dirty="0" err="1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Inicial</a:t>
            </a:r>
            <a:endParaRPr lang="en-US" sz="13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906049" y="1362456"/>
            <a:ext cx="152705" cy="152705"/>
          </a:xfrm>
          <a:prstGeom prst="rect">
            <a:avLst/>
          </a:prstGeom>
        </p:spPr>
      </p:pic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11173054" y="1362456"/>
            <a:ext cx="133502" cy="152705"/>
          </a:xfrm>
          <a:prstGeom prst="rect">
            <a:avLst/>
          </a:prstGeom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420856" y="1362456"/>
            <a:ext cx="152705" cy="152705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8045664" y="1962302"/>
            <a:ext cx="1238098" cy="1314907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1"/>
          <p:cNvSpPr txBox="1"/>
          <p:nvPr/>
        </p:nvSpPr>
        <p:spPr>
          <a:xfrm>
            <a:off x="8098417" y="2124151"/>
            <a:ext cx="123809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Docs. </a:t>
            </a:r>
            <a:r>
              <a:rPr lang="en-US" sz="900" b="1" dirty="0" err="1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Transmitidos</a:t>
            </a:r>
            <a:endParaRPr lang="en-US" sz="900" dirty="0"/>
          </a:p>
        </p:txBody>
      </p:sp>
      <p:sp>
        <p:nvSpPr>
          <p:cNvPr id="35" name="Text 22"/>
          <p:cNvSpPr txBox="1"/>
          <p:nvPr/>
        </p:nvSpPr>
        <p:spPr>
          <a:xfrm>
            <a:off x="8207513" y="2428646"/>
            <a:ext cx="8887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$1.2M</a:t>
            </a:r>
            <a:endParaRPr lang="en-US" sz="22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3"/>
          <a:srcRect l="-1773" r="-1773"/>
          <a:stretch/>
        </p:blipFill>
        <p:spPr>
          <a:xfrm>
            <a:off x="8982010" y="2562149"/>
            <a:ext cx="133502" cy="171907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8207513" y="2809951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+15% vs mes anterior</a:t>
            </a:r>
            <a:endParaRPr lang="en-US" sz="900" dirty="0"/>
          </a:p>
        </p:txBody>
      </p:sp>
      <p:sp>
        <p:nvSpPr>
          <p:cNvPr id="38" name="Shape 24"/>
          <p:cNvSpPr/>
          <p:nvPr/>
        </p:nvSpPr>
        <p:spPr>
          <a:xfrm>
            <a:off x="10045458" y="1999335"/>
            <a:ext cx="1238098" cy="1314907"/>
          </a:xfrm>
          <a:prstGeom prst="roundRect">
            <a:avLst>
              <a:gd name="adj" fmla="val 134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25"/>
          <p:cNvSpPr txBox="1"/>
          <p:nvPr/>
        </p:nvSpPr>
        <p:spPr>
          <a:xfrm>
            <a:off x="10207306" y="2161184"/>
            <a:ext cx="7525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Tasa de </a:t>
            </a:r>
            <a:r>
              <a:rPr lang="en-US" sz="900" b="1" dirty="0" err="1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aceptacioin</a:t>
            </a: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DIAN</a:t>
            </a:r>
            <a:endParaRPr lang="en-US" sz="900" dirty="0"/>
          </a:p>
        </p:txBody>
      </p:sp>
      <p:sp>
        <p:nvSpPr>
          <p:cNvPr id="40" name="Text 26"/>
          <p:cNvSpPr txBox="1"/>
          <p:nvPr/>
        </p:nvSpPr>
        <p:spPr>
          <a:xfrm>
            <a:off x="10207306" y="2542489"/>
            <a:ext cx="3721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220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4"/>
          <a:srcRect l="-1773" r="-1773"/>
          <a:stretch/>
        </p:blipFill>
        <p:spPr>
          <a:xfrm>
            <a:off x="10760518" y="2675077"/>
            <a:ext cx="133502" cy="171907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10207306" y="2999689"/>
            <a:ext cx="771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urgentes</a:t>
            </a:r>
            <a:endParaRPr lang="en-US" sz="900" dirty="0"/>
          </a:p>
        </p:txBody>
      </p:sp>
      <p:sp>
        <p:nvSpPr>
          <p:cNvPr id="48" name="Shape 32"/>
          <p:cNvSpPr/>
          <p:nvPr/>
        </p:nvSpPr>
        <p:spPr>
          <a:xfrm>
            <a:off x="7790688" y="3504895"/>
            <a:ext cx="1962302" cy="2734056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33"/>
          <p:cNvSpPr txBox="1"/>
          <p:nvPr/>
        </p:nvSpPr>
        <p:spPr>
          <a:xfrm>
            <a:off x="7952537" y="3666744"/>
            <a:ext cx="17044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Estado de </a:t>
            </a:r>
            <a:r>
              <a:rPr lang="en-US" sz="1000" b="1" dirty="0" err="1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transmisiones</a:t>
            </a:r>
            <a:endParaRPr lang="en-US" sz="10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5"/>
          <a:srcRect l="-312" r="-312"/>
          <a:stretch/>
        </p:blipFill>
        <p:spPr>
          <a:xfrm>
            <a:off x="7952537" y="4123944"/>
            <a:ext cx="1638605" cy="1952244"/>
          </a:xfrm>
          <a:prstGeom prst="rect">
            <a:avLst/>
          </a:prstGeom>
        </p:spPr>
      </p:pic>
      <p:sp>
        <p:nvSpPr>
          <p:cNvPr id="51" name="Shape 34"/>
          <p:cNvSpPr/>
          <p:nvPr/>
        </p:nvSpPr>
        <p:spPr>
          <a:xfrm>
            <a:off x="9896551" y="3504895"/>
            <a:ext cx="1676095" cy="2734056"/>
          </a:xfrm>
          <a:prstGeom prst="roundRect">
            <a:avLst>
              <a:gd name="adj" fmla="val 49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35"/>
          <p:cNvSpPr txBox="1"/>
          <p:nvPr/>
        </p:nvSpPr>
        <p:spPr>
          <a:xfrm>
            <a:off x="10058400" y="3666744"/>
            <a:ext cx="14100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Cierre</a:t>
            </a: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00" b="1" dirty="0" err="1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mensual</a:t>
            </a: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fiscal</a:t>
            </a:r>
            <a:endParaRPr lang="en-US" sz="10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6"/>
          <a:srcRect l="-4" r="-4"/>
          <a:stretch/>
        </p:blipFill>
        <p:spPr>
          <a:xfrm>
            <a:off x="10058400" y="4123944"/>
            <a:ext cx="1352398" cy="1952244"/>
          </a:xfrm>
          <a:prstGeom prst="rect">
            <a:avLst/>
          </a:prstGeom>
        </p:spPr>
      </p:pic>
      <p:pic>
        <p:nvPicPr>
          <p:cNvPr id="55" name="Image 17" descr="preencoded.png"/>
          <p:cNvPicPr>
            <a:picLocks noChangeAspect="1"/>
          </p:cNvPicPr>
          <p:nvPr/>
        </p:nvPicPr>
        <p:blipFill>
          <a:blip r:embed="rId17">
            <a:alphaModFix amt="55000"/>
          </a:blip>
          <a:srcRect l="-2571" r="-2571"/>
          <a:stretch/>
        </p:blipFill>
        <p:spPr>
          <a:xfrm>
            <a:off x="7808976" y="5810893"/>
            <a:ext cx="201168" cy="218661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457200" y="0"/>
            <a:ext cx="489204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y Analíticos</a:t>
            </a:r>
            <a:endParaRPr lang="en-US" sz="2700" dirty="0"/>
          </a:p>
        </p:txBody>
      </p:sp>
      <p:sp>
        <p:nvSpPr>
          <p:cNvPr id="58" name="Text 38"/>
          <p:cNvSpPr txBox="1"/>
          <p:nvPr/>
        </p:nvSpPr>
        <p:spPr>
          <a:xfrm>
            <a:off x="457200" y="41879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Centro de mando con KPIs en tiempo real</a:t>
            </a:r>
            <a:endParaRPr lang="en-US" sz="1500" dirty="0"/>
          </a:p>
        </p:txBody>
      </p:sp>
      <p:pic>
        <p:nvPicPr>
          <p:cNvPr id="59" name="Image 15" descr="preencoded.png">
            <a:extLst>
              <a:ext uri="{FF2B5EF4-FFF2-40B4-BE49-F238E27FC236}">
                <a16:creationId xmlns:a16="http://schemas.microsoft.com/office/drawing/2014/main" id="{6A787BE4-CF91-40F7-BD7B-75CB2190531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0"/>
            <a:ext cx="69320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Consultas en Línea y Gestión 360°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6458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inmediato y contextual a la información del cliente</a:t>
            </a:r>
            <a:endParaRPr lang="en-US" sz="1500" dirty="0"/>
          </a:p>
        </p:txBody>
      </p:sp>
      <p:pic>
        <p:nvPicPr>
          <p:cNvPr id="53" name="Image 15" descr="preencoded.png">
            <a:extLst>
              <a:ext uri="{FF2B5EF4-FFF2-40B4-BE49-F238E27FC236}">
                <a16:creationId xmlns:a16="http://schemas.microsoft.com/office/drawing/2014/main" id="{D5DAEF66-EA80-41EA-952D-C34B2CEB6C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sp>
        <p:nvSpPr>
          <p:cNvPr id="54" name="Text 7">
            <a:extLst>
              <a:ext uri="{FF2B5EF4-FFF2-40B4-BE49-F238E27FC236}">
                <a16:creationId xmlns:a16="http://schemas.microsoft.com/office/drawing/2014/main" id="{1574FBCE-35B8-4E10-9C76-3EF9CC0D0F82}"/>
              </a:ext>
            </a:extLst>
          </p:cNvPr>
          <p:cNvSpPr txBox="1"/>
          <p:nvPr/>
        </p:nvSpPr>
        <p:spPr>
          <a:xfrm>
            <a:off x="238201" y="6376697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Modernice su operación hoy aprovechando la </a:t>
            </a:r>
            <a:r>
              <a:rPr lang="en-US" sz="1200" dirty="0" err="1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potencia</a:t>
            </a: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SAP HANA PORTALS  , </a:t>
            </a:r>
            <a:r>
              <a:rPr lang="en-US" sz="1200" b="1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la complejidad ni los altos costos de una migración total a la nube.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38351F8-1A20-4747-AFD7-8F739B3C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88" y="910009"/>
            <a:ext cx="10902462" cy="547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0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0"/>
            <a:ext cx="69320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Consultas en Línea y Gestión 360°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6458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inmediato y contextual a la </a:t>
            </a:r>
            <a:r>
              <a:rPr lang="en-US" sz="1500" dirty="0" err="1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información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2235403" y="1207652"/>
            <a:ext cx="3556102" cy="475305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539898" y="2884662"/>
            <a:ext cx="2952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32606" y="1550552"/>
            <a:ext cx="761695" cy="7616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70350" y="1788296"/>
            <a:ext cx="286207" cy="28620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037332" y="2464952"/>
            <a:ext cx="19595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Búsqueda Inteligente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2539898" y="3141608"/>
            <a:ext cx="161849" cy="228600"/>
          </a:xfrm>
          <a:prstGeom prst="roundRect">
            <a:avLst>
              <a:gd name="adj" fmla="val 26586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2564587" y="3198301"/>
            <a:ext cx="105156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2807817" y="3122406"/>
            <a:ext cx="27624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Localización rápida de business partner, contactos y decisores clave.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2539898" y="3789004"/>
            <a:ext cx="133502" cy="228600"/>
          </a:xfrm>
          <a:prstGeom prst="roundRect">
            <a:avLst>
              <a:gd name="adj" fmla="val 39139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2550871" y="3845696"/>
            <a:ext cx="105156" cy="1143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2781300" y="3769801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Búsqueda global y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estructurada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informacion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 NIT.</a:t>
            </a:r>
            <a:endParaRPr lang="en-US" sz="1200" dirty="0"/>
          </a:p>
        </p:txBody>
      </p:sp>
      <p:sp>
        <p:nvSpPr>
          <p:cNvPr id="21" name="Shape 12"/>
          <p:cNvSpPr/>
          <p:nvPr/>
        </p:nvSpPr>
        <p:spPr>
          <a:xfrm>
            <a:off x="2539898" y="4684201"/>
            <a:ext cx="123444" cy="228600"/>
          </a:xfrm>
          <a:prstGeom prst="roundRect">
            <a:avLst>
              <a:gd name="adj" fmla="val 45584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2549957" y="4741808"/>
            <a:ext cx="105156" cy="1143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2778557" y="4664999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Filtros dinámicos basados en Fiori Elements para refinar resultados al instante.</a:t>
            </a:r>
            <a:endParaRPr lang="en-US" sz="12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096000" y="1202093"/>
            <a:ext cx="3556102" cy="4753051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6401409" y="2879103"/>
            <a:ext cx="2952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0" name="Shape 23"/>
          <p:cNvSpPr/>
          <p:nvPr/>
        </p:nvSpPr>
        <p:spPr>
          <a:xfrm>
            <a:off x="7493203" y="1544993"/>
            <a:ext cx="761695" cy="76169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607" r="-607"/>
          <a:stretch/>
        </p:blipFill>
        <p:spPr>
          <a:xfrm>
            <a:off x="7693457" y="1782737"/>
            <a:ext cx="362102" cy="286207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6866839" y="2459393"/>
            <a:ext cx="20180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Vista 360° del Cliente</a:t>
            </a:r>
            <a:endParaRPr lang="en-US" sz="1200" dirty="0"/>
          </a:p>
        </p:txBody>
      </p:sp>
      <p:sp>
        <p:nvSpPr>
          <p:cNvPr id="43" name="Shape 25"/>
          <p:cNvSpPr/>
          <p:nvPr/>
        </p:nvSpPr>
        <p:spPr>
          <a:xfrm>
            <a:off x="6401409" y="3135135"/>
            <a:ext cx="142646" cy="228600"/>
          </a:xfrm>
          <a:prstGeom prst="roundRect">
            <a:avLst>
              <a:gd name="adj" fmla="val 34188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416040" y="3192742"/>
            <a:ext cx="105156" cy="114300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6651041" y="3115932"/>
            <a:ext cx="27816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Historial completo y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cronológico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flujjo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documentos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46" name="Shape 27"/>
          <p:cNvSpPr/>
          <p:nvPr/>
        </p:nvSpPr>
        <p:spPr>
          <a:xfrm>
            <a:off x="6401409" y="3783444"/>
            <a:ext cx="133502" cy="228600"/>
          </a:xfrm>
          <a:prstGeom prst="roundRect">
            <a:avLst>
              <a:gd name="adj" fmla="val 39139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411468" y="3840137"/>
            <a:ext cx="105156" cy="114300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6641897" y="3764242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Visualización de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estado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publicado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 DIAN</a:t>
            </a:r>
            <a:endParaRPr lang="en-US" sz="1200" dirty="0"/>
          </a:p>
        </p:txBody>
      </p:sp>
      <p:sp>
        <p:nvSpPr>
          <p:cNvPr id="49" name="Shape 29"/>
          <p:cNvSpPr/>
          <p:nvPr/>
        </p:nvSpPr>
        <p:spPr>
          <a:xfrm>
            <a:off x="6401409" y="4678642"/>
            <a:ext cx="123444" cy="228600"/>
          </a:xfrm>
          <a:prstGeom prst="roundRect">
            <a:avLst>
              <a:gd name="adj" fmla="val 45584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0" name="Image 18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410553" y="4735335"/>
            <a:ext cx="105156" cy="114300"/>
          </a:xfrm>
          <a:prstGeom prst="rect">
            <a:avLst/>
          </a:prstGeom>
        </p:spPr>
      </p:pic>
      <p:sp>
        <p:nvSpPr>
          <p:cNvPr id="51" name="Text 30"/>
          <p:cNvSpPr txBox="1"/>
          <p:nvPr/>
        </p:nvSpPr>
        <p:spPr>
          <a:xfrm>
            <a:off x="6639153" y="4659440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Seguimiento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proceso para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validacion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documentos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52" name="Text 31"/>
          <p:cNvSpPr txBox="1"/>
          <p:nvPr/>
        </p:nvSpPr>
        <p:spPr>
          <a:xfrm>
            <a:off x="8634374" y="1277988"/>
            <a:ext cx="981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Principal</a:t>
            </a:r>
            <a:endParaRPr lang="en-US" sz="1200" dirty="0"/>
          </a:p>
        </p:txBody>
      </p:sp>
      <p:pic>
        <p:nvPicPr>
          <p:cNvPr id="53" name="Image 15" descr="preencoded.png">
            <a:extLst>
              <a:ext uri="{FF2B5EF4-FFF2-40B4-BE49-F238E27FC236}">
                <a16:creationId xmlns:a16="http://schemas.microsoft.com/office/drawing/2014/main" id="{D5DAEF66-EA80-41EA-952D-C34B2CEB6CE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sp>
        <p:nvSpPr>
          <p:cNvPr id="55" name="Text 7">
            <a:extLst>
              <a:ext uri="{FF2B5EF4-FFF2-40B4-BE49-F238E27FC236}">
                <a16:creationId xmlns:a16="http://schemas.microsoft.com/office/drawing/2014/main" id="{9C400A49-C28F-4C1F-9BFB-CBC5C85F694A}"/>
              </a:ext>
            </a:extLst>
          </p:cNvPr>
          <p:cNvSpPr txBox="1"/>
          <p:nvPr/>
        </p:nvSpPr>
        <p:spPr>
          <a:xfrm>
            <a:off x="238201" y="6376697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Modernice su operación hoy aprovechando la </a:t>
            </a:r>
            <a:r>
              <a:rPr lang="en-US" sz="1200" dirty="0" err="1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potencia</a:t>
            </a: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SAP HANA PORTALS  , </a:t>
            </a:r>
            <a:r>
              <a:rPr lang="en-US" sz="1200" b="1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la complejidad ni los altos costos de una migración total a la nube.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92D050">
                <a:tint val="45000"/>
                <a:satMod val="400000"/>
              </a:srgbClr>
            </a:duotone>
          </a:blip>
          <a:srcRect t="-400" b="-400"/>
          <a:stretch/>
        </p:blipFill>
        <p:spPr>
          <a:xfrm>
            <a:off x="1751381" y="2482227"/>
            <a:ext cx="8802929" cy="384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0"/>
            <a:ext cx="53245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de Implementación</a:t>
            </a:r>
            <a:endParaRPr lang="en-US" sz="27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418795"/>
            <a:ext cx="5248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ejecución acelerado en 14 semanas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4664354" y="730236"/>
            <a:ext cx="2866644" cy="400507"/>
          </a:xfrm>
          <a:prstGeom prst="roundRect">
            <a:avLst>
              <a:gd name="adj" fmla="val 22831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02098" y="854595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169103" y="730236"/>
            <a:ext cx="22009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Metodología Agile / Scrum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457200" y="2655048"/>
            <a:ext cx="2729484" cy="20574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00761" y="2883648"/>
            <a:ext cx="2446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0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3264039"/>
            <a:ext cx="152705" cy="1527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75995" y="3226548"/>
            <a:ext cx="2200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Definición de Arquitectura y Seguridad.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3721239"/>
            <a:ext cx="152705" cy="15270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875995" y="3683748"/>
            <a:ext cx="2200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Configuración Theming Corporativo.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4178439"/>
            <a:ext cx="152705" cy="15270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75995" y="4140948"/>
            <a:ext cx="2200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Levantamiento y priorización de Backlog.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186684" y="2655048"/>
            <a:ext cx="2749601" cy="205740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3329330" y="2883648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Sprints Desarrollo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76879" y="3264039"/>
            <a:ext cx="152705" cy="152705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3605479" y="3226548"/>
            <a:ext cx="22201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Apps del portal con integracion a servicios DIAN</a:t>
            </a:r>
            <a:endParaRPr lang="en-US" sz="12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76879" y="3721239"/>
            <a:ext cx="152705" cy="15270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3605479" y="3683748"/>
            <a:ext cx="22201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Construcción de Dashboards y KPIs.</a:t>
            </a:r>
            <a:endParaRPr lang="en-US" sz="12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76879" y="4178439"/>
            <a:ext cx="152705" cy="152705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3605479" y="4140948"/>
            <a:ext cx="22201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Integración Notificaciones y My Inbox.</a:t>
            </a:r>
            <a:endParaRPr lang="en-US" sz="12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9"/>
          <a:srcRect t="-9" b="-9"/>
          <a:stretch/>
        </p:blipFill>
        <p:spPr>
          <a:xfrm>
            <a:off x="5936285" y="2655048"/>
            <a:ext cx="2982773" cy="2057400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6074359" y="2883648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QA y Pruebas UAT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3264039"/>
            <a:ext cx="152705" cy="152705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6355080" y="3226548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Pruebas integrales de calidad y rendimiento.</a:t>
            </a:r>
            <a:endParaRPr lang="en-US" sz="1200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3721239"/>
            <a:ext cx="152705" cy="152705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6355080" y="3683748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Acceptance Testing (UAT) con Key Users.</a:t>
            </a:r>
            <a:endParaRPr lang="en-US" sz="1200" dirty="0"/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4178439"/>
            <a:ext cx="152705" cy="152705"/>
          </a:xfrm>
          <a:prstGeom prst="rect">
            <a:avLst/>
          </a:prstGeom>
        </p:spPr>
      </p:pic>
      <p:sp>
        <p:nvSpPr>
          <p:cNvPr id="37" name="Text 19"/>
          <p:cNvSpPr txBox="1"/>
          <p:nvPr/>
        </p:nvSpPr>
        <p:spPr>
          <a:xfrm>
            <a:off x="6355080" y="4140948"/>
            <a:ext cx="20638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Ajustes finales de UX/UI.</a:t>
            </a:r>
            <a:endParaRPr lang="en-US" sz="1200" dirty="0"/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10"/>
          <a:srcRect l="-7" r="-7"/>
          <a:stretch/>
        </p:blipFill>
        <p:spPr>
          <a:xfrm>
            <a:off x="8919058" y="2655048"/>
            <a:ext cx="2816352" cy="2057400"/>
          </a:xfrm>
          <a:prstGeom prst="rect">
            <a:avLst/>
          </a:prstGeom>
        </p:spPr>
      </p:pic>
      <p:sp>
        <p:nvSpPr>
          <p:cNvPr id="39" name="Text 20"/>
          <p:cNvSpPr txBox="1"/>
          <p:nvPr/>
        </p:nvSpPr>
        <p:spPr>
          <a:xfrm>
            <a:off x="9060790" y="2883648"/>
            <a:ext cx="2536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Go-Live &amp; Soporte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40" name="Image 1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9253" y="3264039"/>
            <a:ext cx="152705" cy="152705"/>
          </a:xfrm>
          <a:prstGeom prst="rect">
            <a:avLst/>
          </a:prstGeom>
        </p:spPr>
      </p:pic>
      <p:sp>
        <p:nvSpPr>
          <p:cNvPr id="41" name="Text 21"/>
          <p:cNvSpPr txBox="1"/>
          <p:nvPr/>
        </p:nvSpPr>
        <p:spPr>
          <a:xfrm>
            <a:off x="9337853" y="3226548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Paso a entorno productivo corporativo.</a:t>
            </a:r>
            <a:endParaRPr lang="en-US" sz="1200" dirty="0"/>
          </a:p>
        </p:txBody>
      </p:sp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9253" y="3721239"/>
            <a:ext cx="152705" cy="152705"/>
          </a:xfrm>
          <a:prstGeom prst="rect">
            <a:avLst/>
          </a:prstGeom>
        </p:spPr>
      </p:pic>
      <p:sp>
        <p:nvSpPr>
          <p:cNvPr id="43" name="Text 22"/>
          <p:cNvSpPr txBox="1"/>
          <p:nvPr/>
        </p:nvSpPr>
        <p:spPr>
          <a:xfrm>
            <a:off x="9337853" y="3683748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Sesiones de Training para usuarios finales.</a:t>
            </a:r>
            <a:endParaRPr lang="en-US" sz="1200" dirty="0"/>
          </a:p>
        </p:txBody>
      </p:sp>
      <p:pic>
        <p:nvPicPr>
          <p:cNvPr id="44" name="Image 1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9253" y="4178439"/>
            <a:ext cx="152705" cy="152705"/>
          </a:xfrm>
          <a:prstGeom prst="rect">
            <a:avLst/>
          </a:prstGeom>
        </p:spPr>
      </p:pic>
      <p:sp>
        <p:nvSpPr>
          <p:cNvPr id="45" name="Text 23"/>
          <p:cNvSpPr txBox="1"/>
          <p:nvPr/>
        </p:nvSpPr>
        <p:spPr>
          <a:xfrm>
            <a:off x="9337853" y="4140948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Soporte Hypercare Post-GoLive.</a:t>
            </a:r>
            <a:endParaRPr lang="en-US" sz="1200" dirty="0"/>
          </a:p>
        </p:txBody>
      </p:sp>
      <p:pic>
        <p:nvPicPr>
          <p:cNvPr id="46" name="Image 20" descr="preencoded.png"/>
          <p:cNvPicPr>
            <a:picLocks noChangeAspect="1"/>
          </p:cNvPicPr>
          <p:nvPr/>
        </p:nvPicPr>
        <p:blipFill>
          <a:blip r:embed="rId11"/>
          <a:srcRect t="-47" b="-47"/>
          <a:stretch/>
        </p:blipFill>
        <p:spPr>
          <a:xfrm>
            <a:off x="1162202" y="1587943"/>
            <a:ext cx="1319479" cy="381305"/>
          </a:xfrm>
          <a:prstGeom prst="rect">
            <a:avLst/>
          </a:prstGeom>
        </p:spPr>
      </p:pic>
      <p:sp>
        <p:nvSpPr>
          <p:cNvPr id="47" name="Text 24"/>
          <p:cNvSpPr txBox="1"/>
          <p:nvPr/>
        </p:nvSpPr>
        <p:spPr>
          <a:xfrm>
            <a:off x="1333195" y="1663839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1-2</a:t>
            </a:r>
            <a:endParaRPr lang="en-US" sz="1200" dirty="0"/>
          </a:p>
        </p:txBody>
      </p:sp>
      <p:sp>
        <p:nvSpPr>
          <p:cNvPr id="48" name="Shape 25"/>
          <p:cNvSpPr/>
          <p:nvPr/>
        </p:nvSpPr>
        <p:spPr>
          <a:xfrm>
            <a:off x="1551737" y="2139785"/>
            <a:ext cx="333756" cy="304495"/>
          </a:xfrm>
          <a:prstGeom prst="roundRect">
            <a:avLst>
              <a:gd name="adj" fmla="val 300300"/>
            </a:avLst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49" name="Image 21" descr="preencoded.png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-45" b="-45"/>
          <a:stretch/>
        </p:blipFill>
        <p:spPr>
          <a:xfrm>
            <a:off x="1584503" y="2187790"/>
            <a:ext cx="256946" cy="228600"/>
          </a:xfrm>
          <a:prstGeom prst="rect">
            <a:avLst/>
          </a:prstGeom>
        </p:spPr>
      </p:pic>
      <p:pic>
        <p:nvPicPr>
          <p:cNvPr id="50" name="Image 22" descr="preencoded.png"/>
          <p:cNvPicPr>
            <a:picLocks noChangeAspect="1"/>
          </p:cNvPicPr>
          <p:nvPr/>
        </p:nvPicPr>
        <p:blipFill>
          <a:blip r:embed="rId13"/>
          <a:srcRect t="-34" b="-34"/>
          <a:stretch/>
        </p:blipFill>
        <p:spPr>
          <a:xfrm>
            <a:off x="3849624" y="1587943"/>
            <a:ext cx="1422806" cy="381305"/>
          </a:xfrm>
          <a:prstGeom prst="rect">
            <a:avLst/>
          </a:prstGeom>
        </p:spPr>
      </p:pic>
      <p:sp>
        <p:nvSpPr>
          <p:cNvPr id="51" name="Text 26"/>
          <p:cNvSpPr txBox="1"/>
          <p:nvPr/>
        </p:nvSpPr>
        <p:spPr>
          <a:xfrm>
            <a:off x="4021531" y="1663839"/>
            <a:ext cx="1177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3-4</a:t>
            </a:r>
            <a:endParaRPr lang="en-US" sz="1200" dirty="0"/>
          </a:p>
        </p:txBody>
      </p:sp>
      <p:sp>
        <p:nvSpPr>
          <p:cNvPr id="52" name="Shape 27"/>
          <p:cNvSpPr/>
          <p:nvPr/>
        </p:nvSpPr>
        <p:spPr>
          <a:xfrm>
            <a:off x="4379976" y="2121039"/>
            <a:ext cx="362102" cy="304495"/>
          </a:xfrm>
          <a:prstGeom prst="roundRect">
            <a:avLst>
              <a:gd name="adj" fmla="val 300300"/>
            </a:avLst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53" name="Image 23" descr="preencoded.png"/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-80" r="-80"/>
          <a:stretch/>
        </p:blipFill>
        <p:spPr>
          <a:xfrm>
            <a:off x="4418381" y="2159443"/>
            <a:ext cx="286207" cy="228600"/>
          </a:xfrm>
          <a:prstGeom prst="rect">
            <a:avLst/>
          </a:prstGeom>
        </p:spPr>
      </p:pic>
      <p:pic>
        <p:nvPicPr>
          <p:cNvPr id="54" name="Image 24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6708038" y="1587943"/>
            <a:ext cx="1438351" cy="381305"/>
          </a:xfrm>
          <a:prstGeom prst="rect">
            <a:avLst/>
          </a:prstGeom>
        </p:spPr>
      </p:pic>
      <p:sp>
        <p:nvSpPr>
          <p:cNvPr id="55" name="Text 28"/>
          <p:cNvSpPr txBox="1"/>
          <p:nvPr/>
        </p:nvSpPr>
        <p:spPr>
          <a:xfrm>
            <a:off x="6879946" y="1663839"/>
            <a:ext cx="12728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 5 </a:t>
            </a:r>
            <a:endParaRPr lang="en-US" sz="1200" dirty="0"/>
          </a:p>
        </p:txBody>
      </p:sp>
      <p:sp>
        <p:nvSpPr>
          <p:cNvPr id="56" name="Shape 29"/>
          <p:cNvSpPr/>
          <p:nvPr/>
        </p:nvSpPr>
        <p:spPr>
          <a:xfrm>
            <a:off x="7274966" y="2121039"/>
            <a:ext cx="304495" cy="304495"/>
          </a:xfrm>
          <a:prstGeom prst="ellips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57" name="Image 25" descr="preencoded.png"/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7313371" y="2159443"/>
            <a:ext cx="228600" cy="228600"/>
          </a:xfrm>
          <a:prstGeom prst="rect">
            <a:avLst/>
          </a:prstGeom>
        </p:spPr>
      </p:pic>
      <p:pic>
        <p:nvPicPr>
          <p:cNvPr id="58" name="Image 26" descr="preencoded.png"/>
          <p:cNvPicPr>
            <a:picLocks noChangeAspect="1"/>
          </p:cNvPicPr>
          <p:nvPr/>
        </p:nvPicPr>
        <p:blipFill>
          <a:blip r:embed="rId17"/>
          <a:srcRect t="-36" b="-36"/>
          <a:stretch/>
        </p:blipFill>
        <p:spPr>
          <a:xfrm>
            <a:off x="9584741" y="1587943"/>
            <a:ext cx="1484071" cy="381305"/>
          </a:xfrm>
          <a:prstGeom prst="rect">
            <a:avLst/>
          </a:prstGeom>
        </p:spPr>
      </p:pic>
      <p:sp>
        <p:nvSpPr>
          <p:cNvPr id="59" name="Text 30"/>
          <p:cNvSpPr txBox="1"/>
          <p:nvPr/>
        </p:nvSpPr>
        <p:spPr>
          <a:xfrm>
            <a:off x="9756648" y="1663839"/>
            <a:ext cx="1274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 6 </a:t>
            </a:r>
            <a:endParaRPr lang="en-US" sz="1200" dirty="0"/>
          </a:p>
        </p:txBody>
      </p:sp>
      <p:sp>
        <p:nvSpPr>
          <p:cNvPr id="60" name="Shape 31"/>
          <p:cNvSpPr/>
          <p:nvPr/>
        </p:nvSpPr>
        <p:spPr>
          <a:xfrm>
            <a:off x="10174529" y="2121039"/>
            <a:ext cx="304495" cy="304495"/>
          </a:xfrm>
          <a:prstGeom prst="ellips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61" name="Image 27" descr="preencoded.png"/>
          <p:cNvPicPr>
            <a:picLocks noChangeAspect="1"/>
          </p:cNvPicPr>
          <p:nvPr/>
        </p:nvPicPr>
        <p:blipFill>
          <a:blip r:embed="rId18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0212019" y="2159443"/>
            <a:ext cx="228600" cy="228600"/>
          </a:xfrm>
          <a:prstGeom prst="rect">
            <a:avLst/>
          </a:prstGeom>
        </p:spPr>
      </p:pic>
      <p:sp>
        <p:nvSpPr>
          <p:cNvPr id="62" name="Shape 32"/>
          <p:cNvSpPr/>
          <p:nvPr/>
        </p:nvSpPr>
        <p:spPr>
          <a:xfrm>
            <a:off x="304495" y="4808266"/>
            <a:ext cx="11582705" cy="705002"/>
          </a:xfrm>
          <a:prstGeom prst="roundRect">
            <a:avLst>
              <a:gd name="adj" fmla="val 2804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33"/>
          <p:cNvSpPr/>
          <p:nvPr/>
        </p:nvSpPr>
        <p:spPr>
          <a:xfrm>
            <a:off x="466344" y="4970115"/>
            <a:ext cx="381305" cy="381305"/>
          </a:xfrm>
          <a:prstGeom prst="ellips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pic>
        <p:nvPicPr>
          <p:cNvPr id="64" name="Image 28" descr="preencoded.png"/>
          <p:cNvPicPr>
            <a:picLocks noChangeAspect="1"/>
          </p:cNvPicPr>
          <p:nvPr/>
        </p:nvPicPr>
        <p:blipFill>
          <a:blip r:embed="rId19"/>
          <a:srcRect l="-1064" r="-1064"/>
          <a:stretch/>
        </p:blipFill>
        <p:spPr>
          <a:xfrm>
            <a:off x="547726" y="5075271"/>
            <a:ext cx="219456" cy="171907"/>
          </a:xfrm>
          <a:prstGeom prst="rect">
            <a:avLst/>
          </a:prstGeom>
        </p:spPr>
      </p:pic>
      <p:sp>
        <p:nvSpPr>
          <p:cNvPr id="65" name="Text 34"/>
          <p:cNvSpPr txBox="1"/>
          <p:nvPr/>
        </p:nvSpPr>
        <p:spPr>
          <a:xfrm>
            <a:off x="923544" y="5046010"/>
            <a:ext cx="3015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D0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Entregables Clave del Proyecto</a:t>
            </a: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endParaRPr lang="en-US" sz="1200" dirty="0"/>
          </a:p>
        </p:txBody>
      </p:sp>
      <p:pic>
        <p:nvPicPr>
          <p:cNvPr id="66" name="Image 29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3677717" y="5084415"/>
            <a:ext cx="75895" cy="152705"/>
          </a:xfrm>
          <a:prstGeom prst="rect">
            <a:avLst/>
          </a:prstGeom>
        </p:spPr>
      </p:pic>
      <p:sp>
        <p:nvSpPr>
          <p:cNvPr id="67" name="Text 35"/>
          <p:cNvSpPr txBox="1"/>
          <p:nvPr/>
        </p:nvSpPr>
        <p:spPr>
          <a:xfrm>
            <a:off x="3830422" y="5046010"/>
            <a:ext cx="11676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Prototipos UX</a:t>
            </a:r>
            <a:endParaRPr lang="en-US" sz="1200" dirty="0"/>
          </a:p>
        </p:txBody>
      </p:sp>
      <p:pic>
        <p:nvPicPr>
          <p:cNvPr id="68" name="Image 30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5040173" y="5084415"/>
            <a:ext cx="75895" cy="152705"/>
          </a:xfrm>
          <a:prstGeom prst="rect">
            <a:avLst/>
          </a:prstGeom>
        </p:spPr>
      </p:pic>
      <p:sp>
        <p:nvSpPr>
          <p:cNvPr id="69" name="Text 36"/>
          <p:cNvSpPr txBox="1"/>
          <p:nvPr/>
        </p:nvSpPr>
        <p:spPr>
          <a:xfrm>
            <a:off x="5191963" y="5046010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Manuales de Usuario</a:t>
            </a:r>
            <a:endParaRPr lang="en-US" sz="1200" dirty="0"/>
          </a:p>
        </p:txBody>
      </p:sp>
      <p:pic>
        <p:nvPicPr>
          <p:cNvPr id="70" name="Image 31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6922922" y="5084415"/>
            <a:ext cx="75895" cy="152705"/>
          </a:xfrm>
          <a:prstGeom prst="rect">
            <a:avLst/>
          </a:prstGeom>
        </p:spPr>
      </p:pic>
      <p:sp>
        <p:nvSpPr>
          <p:cNvPr id="71" name="Text 37"/>
          <p:cNvSpPr txBox="1"/>
          <p:nvPr/>
        </p:nvSpPr>
        <p:spPr>
          <a:xfrm>
            <a:off x="7075627" y="5046010"/>
            <a:ext cx="1474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Adopción</a:t>
            </a:r>
            <a:endParaRPr lang="en-US" sz="1200" dirty="0"/>
          </a:p>
        </p:txBody>
      </p:sp>
      <p:pic>
        <p:nvPicPr>
          <p:cNvPr id="72" name="Image 32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8541410" y="5084415"/>
            <a:ext cx="75895" cy="152705"/>
          </a:xfrm>
          <a:prstGeom prst="rect">
            <a:avLst/>
          </a:prstGeom>
        </p:spPr>
      </p:pic>
      <p:sp>
        <p:nvSpPr>
          <p:cNvPr id="73" name="Text 38"/>
          <p:cNvSpPr txBox="1"/>
          <p:nvPr/>
        </p:nvSpPr>
        <p:spPr>
          <a:xfrm>
            <a:off x="8694115" y="5046010"/>
            <a:ext cx="1904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Medición KPIs de Éxito</a:t>
            </a:r>
            <a:endParaRPr lang="en-US" sz="1200" dirty="0"/>
          </a:p>
        </p:txBody>
      </p:sp>
      <p:pic>
        <p:nvPicPr>
          <p:cNvPr id="74" name="Image 15" descr="preencoded.png">
            <a:extLst>
              <a:ext uri="{FF2B5EF4-FFF2-40B4-BE49-F238E27FC236}">
                <a16:creationId xmlns:a16="http://schemas.microsoft.com/office/drawing/2014/main" id="{2DEC50DE-66A3-48CC-A67D-26CE0E180A3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sp>
        <p:nvSpPr>
          <p:cNvPr id="75" name="Shape 15">
            <a:extLst>
              <a:ext uri="{FF2B5EF4-FFF2-40B4-BE49-F238E27FC236}">
                <a16:creationId xmlns:a16="http://schemas.microsoft.com/office/drawing/2014/main" id="{01BE0809-A482-4150-901A-385EAD2B93D4}"/>
              </a:ext>
            </a:extLst>
          </p:cNvPr>
          <p:cNvSpPr/>
          <p:nvPr/>
        </p:nvSpPr>
        <p:spPr>
          <a:xfrm>
            <a:off x="543758" y="5812584"/>
            <a:ext cx="11239805" cy="1009498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E4D1FD19-B26D-4CBC-96A3-7BDE56989D5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733954" y="6078675"/>
            <a:ext cx="190195" cy="190195"/>
          </a:xfrm>
          <a:prstGeom prst="rect">
            <a:avLst/>
          </a:prstGeom>
        </p:spPr>
      </p:pic>
      <p:sp>
        <p:nvSpPr>
          <p:cNvPr id="77" name="Text 16">
            <a:extLst>
              <a:ext uri="{FF2B5EF4-FFF2-40B4-BE49-F238E27FC236}">
                <a16:creationId xmlns:a16="http://schemas.microsoft.com/office/drawing/2014/main" id="{84558593-752B-4BF4-88DE-B8B861B97F3C}"/>
              </a:ext>
            </a:extLst>
          </p:cNvPr>
          <p:cNvSpPr txBox="1"/>
          <p:nvPr/>
        </p:nvSpPr>
        <p:spPr>
          <a:xfrm>
            <a:off x="1067710" y="6032040"/>
            <a:ext cx="1904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Garantía de Servicio</a:t>
            </a:r>
            <a:endParaRPr lang="en-US" sz="1200" dirty="0"/>
          </a:p>
        </p:txBody>
      </p:sp>
      <p:sp>
        <p:nvSpPr>
          <p:cNvPr id="78" name="Text 17">
            <a:extLst>
              <a:ext uri="{FF2B5EF4-FFF2-40B4-BE49-F238E27FC236}">
                <a16:creationId xmlns:a16="http://schemas.microsoft.com/office/drawing/2014/main" id="{72EFBC7E-BD0D-40FD-8D09-B4556E807B4A}"/>
              </a:ext>
            </a:extLst>
          </p:cNvPr>
          <p:cNvSpPr txBox="1"/>
          <p:nvPr/>
        </p:nvSpPr>
        <p:spPr>
          <a:xfrm>
            <a:off x="1067710" y="6278928"/>
            <a:ext cx="100776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Nuestro modelo asegura no solo la entrega tecnológica, sino la adopción exitosa por parte de los usuarios, minimizando la resistencia al cambio y maximizando el valor de su inversión en SAP HANA.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66629" y="5055975"/>
            <a:ext cx="11271250" cy="893444"/>
            <a:chOff x="460246" y="5876532"/>
            <a:chExt cx="11271250" cy="89344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246" y="5876532"/>
              <a:ext cx="11270745" cy="88927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392" y="5902451"/>
              <a:ext cx="5130546" cy="7886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7012" y="5905499"/>
              <a:ext cx="11239500" cy="858519"/>
            </a:xfrm>
            <a:custGeom>
              <a:avLst/>
              <a:gdLst/>
              <a:ahLst/>
              <a:cxnLst/>
              <a:rect l="l" t="t" r="r" b="b"/>
              <a:pathLst>
                <a:path w="11239500" h="858520">
                  <a:moveTo>
                    <a:pt x="11158219" y="0"/>
                  </a:moveTo>
                  <a:lnTo>
                    <a:pt x="81305" y="0"/>
                  </a:lnTo>
                  <a:lnTo>
                    <a:pt x="49656" y="6388"/>
                  </a:lnTo>
                  <a:lnTo>
                    <a:pt x="23812" y="23812"/>
                  </a:lnTo>
                  <a:lnTo>
                    <a:pt x="6388" y="49656"/>
                  </a:lnTo>
                  <a:lnTo>
                    <a:pt x="0" y="81305"/>
                  </a:lnTo>
                  <a:lnTo>
                    <a:pt x="0" y="776706"/>
                  </a:lnTo>
                  <a:lnTo>
                    <a:pt x="6388" y="808355"/>
                  </a:lnTo>
                  <a:lnTo>
                    <a:pt x="23812" y="834198"/>
                  </a:lnTo>
                  <a:lnTo>
                    <a:pt x="49656" y="851622"/>
                  </a:lnTo>
                  <a:lnTo>
                    <a:pt x="81305" y="858010"/>
                  </a:lnTo>
                  <a:lnTo>
                    <a:pt x="11158219" y="858010"/>
                  </a:lnTo>
                  <a:lnTo>
                    <a:pt x="11189833" y="851622"/>
                  </a:lnTo>
                  <a:lnTo>
                    <a:pt x="11215671" y="834198"/>
                  </a:lnTo>
                  <a:lnTo>
                    <a:pt x="11233104" y="808355"/>
                  </a:lnTo>
                  <a:lnTo>
                    <a:pt x="11239500" y="776706"/>
                  </a:lnTo>
                  <a:lnTo>
                    <a:pt x="11239500" y="81305"/>
                  </a:lnTo>
                  <a:lnTo>
                    <a:pt x="11233104" y="49656"/>
                  </a:lnTo>
                  <a:lnTo>
                    <a:pt x="11215671" y="23812"/>
                  </a:lnTo>
                  <a:lnTo>
                    <a:pt x="11189833" y="6388"/>
                  </a:lnTo>
                  <a:lnTo>
                    <a:pt x="11158219" y="0"/>
                  </a:lnTo>
                  <a:close/>
                </a:path>
              </a:pathLst>
            </a:custGeom>
            <a:solidFill>
              <a:srgbClr val="EE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7012" y="5905499"/>
              <a:ext cx="11239500" cy="858519"/>
            </a:xfrm>
            <a:custGeom>
              <a:avLst/>
              <a:gdLst/>
              <a:ahLst/>
              <a:cxnLst/>
              <a:rect l="l" t="t" r="r" b="b"/>
              <a:pathLst>
                <a:path w="11239500" h="858520">
                  <a:moveTo>
                    <a:pt x="0" y="81305"/>
                  </a:moveTo>
                  <a:lnTo>
                    <a:pt x="6388" y="49656"/>
                  </a:lnTo>
                  <a:lnTo>
                    <a:pt x="23812" y="23812"/>
                  </a:lnTo>
                  <a:lnTo>
                    <a:pt x="49656" y="6388"/>
                  </a:lnTo>
                  <a:lnTo>
                    <a:pt x="81305" y="0"/>
                  </a:lnTo>
                  <a:lnTo>
                    <a:pt x="11158219" y="0"/>
                  </a:lnTo>
                  <a:lnTo>
                    <a:pt x="11189833" y="6388"/>
                  </a:lnTo>
                  <a:lnTo>
                    <a:pt x="11215671" y="23812"/>
                  </a:lnTo>
                  <a:lnTo>
                    <a:pt x="11233104" y="49656"/>
                  </a:lnTo>
                  <a:lnTo>
                    <a:pt x="11239500" y="81305"/>
                  </a:lnTo>
                  <a:lnTo>
                    <a:pt x="11239500" y="776706"/>
                  </a:lnTo>
                  <a:lnTo>
                    <a:pt x="11233104" y="808355"/>
                  </a:lnTo>
                  <a:lnTo>
                    <a:pt x="11215671" y="834198"/>
                  </a:lnTo>
                  <a:lnTo>
                    <a:pt x="11189833" y="851622"/>
                  </a:lnTo>
                  <a:lnTo>
                    <a:pt x="11158219" y="858010"/>
                  </a:lnTo>
                  <a:lnTo>
                    <a:pt x="81305" y="858010"/>
                  </a:lnTo>
                  <a:lnTo>
                    <a:pt x="49656" y="851622"/>
                  </a:lnTo>
                  <a:lnTo>
                    <a:pt x="23812" y="834198"/>
                  </a:lnTo>
                  <a:lnTo>
                    <a:pt x="6388" y="808355"/>
                  </a:lnTo>
                  <a:lnTo>
                    <a:pt x="0" y="776706"/>
                  </a:lnTo>
                  <a:lnTo>
                    <a:pt x="0" y="81305"/>
                  </a:lnTo>
                  <a:close/>
                </a:path>
              </a:pathLst>
            </a:custGeom>
            <a:ln w="12700">
              <a:solidFill>
                <a:srgbClr val="BEDB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9137" y="937548"/>
            <a:ext cx="10774884" cy="50154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680"/>
              </a:spcBef>
            </a:pPr>
            <a:r>
              <a:rPr lang="es-MX" sz="1400" b="1" spc="-10" dirty="0">
                <a:solidFill>
                  <a:srgbClr val="6FAC46"/>
                </a:solidFill>
                <a:latin typeface="Tahoma"/>
                <a:cs typeface="Tahoma"/>
              </a:rPr>
              <a:t>Despliegue de solución :</a:t>
            </a:r>
            <a:endParaRPr lang="es-MX" sz="1400" dirty="0">
              <a:latin typeface="Tahoma"/>
              <a:cs typeface="Tahoma"/>
            </a:endParaRPr>
          </a:p>
          <a:p>
            <a:pPr marL="71120">
              <a:lnSpc>
                <a:spcPct val="100000"/>
              </a:lnSpc>
              <a:spcBef>
                <a:spcPts val="5"/>
              </a:spcBef>
            </a:pPr>
            <a:r>
              <a:rPr lang="es-MX" sz="1200" dirty="0">
                <a:solidFill>
                  <a:srgbClr val="4A5462"/>
                </a:solidFill>
                <a:latin typeface="Verdana"/>
                <a:cs typeface="Verdana"/>
              </a:rPr>
              <a:t>Despliegue de Front End en servidor FONANDES</a:t>
            </a:r>
            <a:endParaRPr lang="es-MX" sz="1200" dirty="0">
              <a:latin typeface="Verdana"/>
              <a:cs typeface="Verdana"/>
            </a:endParaRPr>
          </a:p>
          <a:p>
            <a:pPr marL="71120">
              <a:lnSpc>
                <a:spcPct val="100000"/>
              </a:lnSpc>
              <a:spcBef>
                <a:spcPts val="1435"/>
              </a:spcBef>
            </a:pPr>
            <a:r>
              <a:rPr lang="es-MX" sz="1400" b="1" dirty="0">
                <a:solidFill>
                  <a:srgbClr val="6FAC46"/>
                </a:solidFill>
                <a:latin typeface="Tahoma"/>
                <a:cs typeface="Tahoma"/>
              </a:rPr>
              <a:t>Despliegue Back End </a:t>
            </a:r>
            <a:r>
              <a:rPr lang="es-MX" sz="1400" b="1" spc="-10" dirty="0">
                <a:solidFill>
                  <a:srgbClr val="6FAC46"/>
                </a:solidFill>
                <a:latin typeface="Tahoma"/>
                <a:cs typeface="Tahoma"/>
              </a:rPr>
              <a:t>:</a:t>
            </a:r>
            <a:endParaRPr lang="es-MX" sz="1400" dirty="0">
              <a:latin typeface="Tahoma"/>
              <a:cs typeface="Tahoma"/>
            </a:endParaRPr>
          </a:p>
          <a:p>
            <a:pPr marL="71120">
              <a:lnSpc>
                <a:spcPct val="100000"/>
              </a:lnSpc>
            </a:pPr>
            <a:r>
              <a:rPr lang="es-MX" sz="1200" spc="-10" dirty="0">
                <a:solidFill>
                  <a:srgbClr val="4A5462"/>
                </a:solidFill>
                <a:latin typeface="Verdana"/>
                <a:cs typeface="Verdana"/>
              </a:rPr>
              <a:t>Despliegue del </a:t>
            </a:r>
            <a:r>
              <a:rPr lang="es-MX" sz="1200" spc="-10" dirty="0" err="1">
                <a:solidFill>
                  <a:srgbClr val="4A5462"/>
                </a:solidFill>
                <a:latin typeface="Verdana"/>
                <a:cs typeface="Verdana"/>
              </a:rPr>
              <a:t>backend</a:t>
            </a:r>
            <a:r>
              <a:rPr lang="es-MX" sz="1200" spc="-10" dirty="0">
                <a:solidFill>
                  <a:srgbClr val="4A5462"/>
                </a:solidFill>
                <a:latin typeface="Verdana"/>
                <a:cs typeface="Verdana"/>
              </a:rPr>
              <a:t> en base al </a:t>
            </a:r>
            <a:r>
              <a:rPr lang="es-MX" sz="1200" spc="-10" dirty="0" err="1">
                <a:solidFill>
                  <a:srgbClr val="4A5462"/>
                </a:solidFill>
                <a:latin typeface="Verdana"/>
                <a:cs typeface="Verdana"/>
              </a:rPr>
              <a:t>To</a:t>
            </a:r>
            <a:r>
              <a:rPr lang="es-MX" sz="1200" spc="-10" dirty="0">
                <a:solidFill>
                  <a:srgbClr val="4A5462"/>
                </a:solidFill>
                <a:latin typeface="Verdana"/>
                <a:cs typeface="Verdana"/>
              </a:rPr>
              <a:t> Be generado en las sesiones con el equipo funcional</a:t>
            </a:r>
            <a:endParaRPr lang="es-MX" sz="1400" b="1" dirty="0">
              <a:solidFill>
                <a:srgbClr val="6FAC46"/>
              </a:solidFill>
              <a:latin typeface="Tahoma"/>
              <a:cs typeface="Tahoma"/>
            </a:endParaRPr>
          </a:p>
          <a:p>
            <a:pPr marL="71120" marR="3105150">
              <a:lnSpc>
                <a:spcPct val="100000"/>
              </a:lnSpc>
              <a:spcBef>
                <a:spcPts val="1430"/>
              </a:spcBef>
            </a:pPr>
            <a:r>
              <a:rPr lang="es-MX" sz="1400" b="1" dirty="0">
                <a:solidFill>
                  <a:srgbClr val="6FAC46"/>
                </a:solidFill>
                <a:latin typeface="Tahoma"/>
                <a:cs typeface="Tahoma"/>
              </a:rPr>
              <a:t>Pruebas Unitarias – Integrales - E</a:t>
            </a:r>
            <a:r>
              <a:rPr sz="1400" b="1" dirty="0" err="1">
                <a:solidFill>
                  <a:srgbClr val="6FAC46"/>
                </a:solidFill>
                <a:latin typeface="Tahoma"/>
                <a:cs typeface="Tahoma"/>
              </a:rPr>
              <a:t>ntregables</a:t>
            </a:r>
            <a:r>
              <a:rPr sz="1400" b="1" spc="-10" dirty="0">
                <a:solidFill>
                  <a:srgbClr val="6FAC46"/>
                </a:solidFill>
                <a:latin typeface="Tahoma"/>
                <a:cs typeface="Tahoma"/>
              </a:rPr>
              <a:t>:</a:t>
            </a:r>
            <a:r>
              <a:rPr lang="es-MX" sz="1400" b="1" spc="-10" dirty="0">
                <a:solidFill>
                  <a:srgbClr val="6FAC46"/>
                </a:solidFill>
                <a:latin typeface="Tahoma"/>
                <a:cs typeface="Tahoma"/>
              </a:rPr>
              <a:t>                                                                </a:t>
            </a:r>
            <a:r>
              <a:rPr lang="es-MX" sz="1200" spc="-10" dirty="0">
                <a:solidFill>
                  <a:srgbClr val="4A5462"/>
                </a:solidFill>
                <a:latin typeface="Verdana"/>
                <a:cs typeface="Tahoma"/>
              </a:rPr>
              <a:t>P</a:t>
            </a:r>
            <a:r>
              <a:rPr lang="es-MX" sz="1200" dirty="0">
                <a:solidFill>
                  <a:srgbClr val="4A5462"/>
                </a:solidFill>
                <a:latin typeface="Verdana"/>
                <a:cs typeface="Verdana"/>
              </a:rPr>
              <a:t>lan de pruebas y gestión de documentación de entregables AS IS / TOBE / Pruebas / OT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.</a:t>
            </a:r>
            <a:endParaRPr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lang="es-MX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 dirty="0">
              <a:latin typeface="Verdana"/>
              <a:cs typeface="Verdana"/>
            </a:endParaRPr>
          </a:p>
          <a:p>
            <a:pPr marL="71120">
              <a:lnSpc>
                <a:spcPct val="100000"/>
              </a:lnSpc>
            </a:pPr>
            <a:r>
              <a:rPr sz="1800" b="1" dirty="0">
                <a:solidFill>
                  <a:srgbClr val="4A5462"/>
                </a:solidFill>
                <a:latin typeface="Tahoma"/>
                <a:cs typeface="Tahoma"/>
              </a:rPr>
              <a:t>Inversión</a:t>
            </a:r>
            <a:r>
              <a:rPr sz="1800" b="1" spc="-5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A5462"/>
                </a:solidFill>
                <a:latin typeface="Tahoma"/>
                <a:cs typeface="Tahoma"/>
              </a:rPr>
              <a:t>Total:</a:t>
            </a:r>
            <a:r>
              <a:rPr sz="1800" b="1" spc="-3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A5462"/>
                </a:solidFill>
                <a:latin typeface="Tahoma"/>
                <a:cs typeface="Tahoma"/>
              </a:rPr>
              <a:t>$</a:t>
            </a:r>
            <a:r>
              <a:rPr sz="1800" b="1" spc="-2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lang="es-MX" b="1" spc="-20" dirty="0">
                <a:solidFill>
                  <a:srgbClr val="4A5462"/>
                </a:solidFill>
                <a:latin typeface="Tahoma"/>
                <a:cs typeface="Tahoma"/>
              </a:rPr>
              <a:t>19</a:t>
            </a:r>
            <a:r>
              <a:rPr sz="1800" b="1" spc="-75" dirty="0">
                <a:solidFill>
                  <a:srgbClr val="4A5462"/>
                </a:solidFill>
                <a:latin typeface="Tahoma"/>
                <a:cs typeface="Tahoma"/>
              </a:rPr>
              <a:t>,</a:t>
            </a:r>
            <a:r>
              <a:rPr lang="es-ES" b="1" spc="-75" dirty="0">
                <a:solidFill>
                  <a:srgbClr val="4A5462"/>
                </a:solidFill>
                <a:latin typeface="Tahoma"/>
                <a:cs typeface="Tahoma"/>
              </a:rPr>
              <a:t>0</a:t>
            </a:r>
            <a:r>
              <a:rPr lang="es-ES" sz="1800" b="1" spc="-75" dirty="0">
                <a:solidFill>
                  <a:srgbClr val="4A5462"/>
                </a:solidFill>
                <a:latin typeface="Tahoma"/>
                <a:cs typeface="Tahoma"/>
              </a:rPr>
              <a:t>00</a:t>
            </a:r>
            <a:r>
              <a:rPr sz="1800" b="1" spc="-75" dirty="0">
                <a:solidFill>
                  <a:srgbClr val="4A5462"/>
                </a:solidFill>
                <a:latin typeface="Tahoma"/>
                <a:cs typeface="Tahoma"/>
              </a:rPr>
              <a:t>.00</a:t>
            </a:r>
            <a:r>
              <a:rPr sz="1800" b="1" spc="-2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800" b="1" spc="60" dirty="0">
                <a:solidFill>
                  <a:srgbClr val="4A5462"/>
                </a:solidFill>
                <a:latin typeface="Tahoma"/>
                <a:cs typeface="Tahoma"/>
              </a:rPr>
              <a:t>USD</a:t>
            </a:r>
            <a:r>
              <a:rPr sz="1800" b="1" spc="-2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lang="es-MX" b="1" spc="-290" dirty="0">
                <a:solidFill>
                  <a:srgbClr val="4A5462"/>
                </a:solidFill>
                <a:latin typeface="Tahoma"/>
                <a:cs typeface="Tahoma"/>
              </a:rPr>
              <a:t>(+ </a:t>
            </a:r>
            <a:r>
              <a:rPr lang="es-PE" sz="1800" b="1" dirty="0">
                <a:solidFill>
                  <a:srgbClr val="4A5462"/>
                </a:solidFill>
                <a:latin typeface="Tahoma"/>
                <a:cs typeface="Tahoma"/>
              </a:rPr>
              <a:t>Impuestos y/o retenciones)</a:t>
            </a:r>
          </a:p>
          <a:p>
            <a:pPr marL="71120">
              <a:lnSpc>
                <a:spcPct val="100000"/>
              </a:lnSpc>
            </a:pPr>
            <a:endParaRPr sz="1800" dirty="0">
              <a:latin typeface="Tahoma"/>
              <a:cs typeface="Tahoma"/>
            </a:endParaRPr>
          </a:p>
          <a:p>
            <a:pPr marL="71120">
              <a:lnSpc>
                <a:spcPts val="1255"/>
              </a:lnSpc>
            </a:pPr>
            <a:r>
              <a:rPr sz="1050" b="1" spc="-10" dirty="0">
                <a:solidFill>
                  <a:srgbClr val="4A5462"/>
                </a:solidFill>
                <a:latin typeface="Tahoma"/>
                <a:cs typeface="Tahoma"/>
              </a:rPr>
              <a:t>Asignación:</a:t>
            </a:r>
            <a:endParaRPr sz="1050" dirty="0">
              <a:latin typeface="Tahoma"/>
              <a:cs typeface="Tahoma"/>
            </a:endParaRPr>
          </a:p>
          <a:p>
            <a:pPr marL="71120">
              <a:lnSpc>
                <a:spcPts val="1435"/>
              </a:lnSpc>
            </a:pP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Consultor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Senior</a:t>
            </a:r>
            <a:r>
              <a:rPr sz="1200" spc="-9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SAP</a:t>
            </a:r>
            <a:r>
              <a:rPr sz="1200" spc="-6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lang="es-MX" sz="1200" spc="70" dirty="0">
                <a:solidFill>
                  <a:srgbClr val="4A5462"/>
                </a:solidFill>
                <a:latin typeface="Verdana"/>
                <a:cs typeface="Verdana"/>
              </a:rPr>
              <a:t>SD</a:t>
            </a:r>
            <a:endParaRPr sz="1200" dirty="0">
              <a:latin typeface="Verdana"/>
              <a:cs typeface="Verdana"/>
            </a:endParaRPr>
          </a:p>
          <a:p>
            <a:pPr marL="71120" marR="4098925">
              <a:lnSpc>
                <a:spcPct val="100000"/>
              </a:lnSpc>
            </a:pP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Consultor</a:t>
            </a:r>
            <a:r>
              <a:rPr sz="1200" spc="-10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Senior</a:t>
            </a:r>
            <a:r>
              <a:rPr sz="1200" spc="-10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SAP</a:t>
            </a:r>
            <a:r>
              <a:rPr sz="1200" spc="-7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lang="es-MX" sz="1200" spc="130" dirty="0">
                <a:solidFill>
                  <a:srgbClr val="4A5462"/>
                </a:solidFill>
                <a:latin typeface="Verdana"/>
                <a:cs typeface="Verdana"/>
              </a:rPr>
              <a:t>FI 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75" dirty="0">
                <a:solidFill>
                  <a:srgbClr val="4A5462"/>
                </a:solidFill>
                <a:latin typeface="Verdana"/>
                <a:cs typeface="Verdana"/>
              </a:rPr>
              <a:t>–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lang="es-MX" sz="1200" spc="-80" dirty="0">
                <a:solidFill>
                  <a:srgbClr val="4A5462"/>
                </a:solidFill>
                <a:latin typeface="Verdana"/>
                <a:cs typeface="Verdana"/>
              </a:rPr>
              <a:t> CO</a:t>
            </a:r>
          </a:p>
          <a:p>
            <a:pPr marL="71120" marR="4098925">
              <a:lnSpc>
                <a:spcPts val="1435"/>
              </a:lnSpc>
            </a:pPr>
            <a:r>
              <a:rPr lang="es-MX" sz="1200" dirty="0">
                <a:solidFill>
                  <a:srgbClr val="4A5462"/>
                </a:solidFill>
                <a:latin typeface="Verdana"/>
              </a:rPr>
              <a:t>Consultor Senior SAP FIORI </a:t>
            </a:r>
          </a:p>
          <a:p>
            <a:pPr marL="71120" marR="4098925">
              <a:lnSpc>
                <a:spcPts val="1435"/>
              </a:lnSpc>
            </a:pPr>
            <a:r>
              <a:rPr lang="es-MX" sz="1200" dirty="0" err="1">
                <a:solidFill>
                  <a:srgbClr val="4A5462"/>
                </a:solidFill>
                <a:latin typeface="Verdana"/>
              </a:rPr>
              <a:t>Consutlor</a:t>
            </a:r>
            <a:r>
              <a:rPr lang="es-MX" sz="1200" dirty="0">
                <a:solidFill>
                  <a:srgbClr val="4A5462"/>
                </a:solidFill>
                <a:latin typeface="Verdana"/>
              </a:rPr>
              <a:t> CPI para integracion con operador tributario (Carvajal)</a:t>
            </a: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lang="es-ES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lang="es-ES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lang="es-ES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200" dirty="0">
              <a:latin typeface="Verdana"/>
              <a:cs typeface="Verdana"/>
            </a:endParaRPr>
          </a:p>
          <a:p>
            <a:pPr marL="12700">
              <a:lnSpc>
                <a:spcPts val="1430"/>
              </a:lnSpc>
            </a:pPr>
            <a:r>
              <a:rPr sz="1200" b="1" dirty="0">
                <a:latin typeface="Calibri"/>
                <a:cs typeface="Calibri"/>
              </a:rPr>
              <a:t>Modalidad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pago</a:t>
            </a:r>
            <a:endParaRPr sz="1200" dirty="0">
              <a:latin typeface="Calibri"/>
              <a:cs typeface="Calibri"/>
            </a:endParaRPr>
          </a:p>
          <a:p>
            <a:pPr marL="12700" marR="3721735">
              <a:lnSpc>
                <a:spcPts val="1680"/>
              </a:lnSpc>
              <a:spcBef>
                <a:spcPts val="45"/>
              </a:spcBef>
            </a:pPr>
            <a:r>
              <a:rPr sz="1400" dirty="0">
                <a:latin typeface="Calibri"/>
                <a:cs typeface="Calibri"/>
              </a:rPr>
              <a:t>50%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inicio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asignación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generación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orden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compra</a:t>
            </a:r>
            <a:r>
              <a:rPr sz="1400" spc="500" dirty="0">
                <a:latin typeface="Calibri"/>
                <a:cs typeface="Calibri"/>
              </a:rPr>
              <a:t> </a:t>
            </a:r>
            <a:endParaRPr lang="es-MX" sz="1400" spc="500" dirty="0">
              <a:latin typeface="Calibri"/>
              <a:cs typeface="Calibri"/>
            </a:endParaRPr>
          </a:p>
          <a:p>
            <a:pPr marL="12700" marR="3721735">
              <a:lnSpc>
                <a:spcPts val="1680"/>
              </a:lnSpc>
              <a:spcBef>
                <a:spcPts val="45"/>
              </a:spcBef>
            </a:pPr>
            <a:r>
              <a:rPr sz="1400" dirty="0">
                <a:latin typeface="Calibri"/>
                <a:cs typeface="Calibri"/>
              </a:rPr>
              <a:t>50%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entregable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lang="es-PE" sz="1400" spc="-20" dirty="0">
                <a:latin typeface="Calibri"/>
                <a:cs typeface="Calibri"/>
              </a:rPr>
              <a:t> </a:t>
            </a:r>
            <a:r>
              <a:rPr lang="es-PE" sz="1400" spc="-10" dirty="0">
                <a:latin typeface="Calibri"/>
                <a:cs typeface="Calibri"/>
              </a:rPr>
              <a:t>documentación</a:t>
            </a:r>
            <a:r>
              <a:rPr lang="es-PE" sz="1400" spc="-25" dirty="0">
                <a:latin typeface="Calibri"/>
                <a:cs typeface="Calibri"/>
              </a:rPr>
              <a:t> y salida en PRD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8D6BFA2E-0E3F-4136-8176-F066BCA045EE}"/>
              </a:ext>
            </a:extLst>
          </p:cNvPr>
          <p:cNvSpPr/>
          <p:nvPr/>
        </p:nvSpPr>
        <p:spPr>
          <a:xfrm>
            <a:off x="-230" y="25907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846DF586-CB37-44DA-8FA0-4DEF400A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PE" spc="85" dirty="0"/>
              <a:t>  Propuesta</a:t>
            </a:r>
            <a:r>
              <a:rPr lang="es-PE" spc="-20" dirty="0"/>
              <a:t> </a:t>
            </a:r>
            <a:r>
              <a:rPr lang="es-PE" spc="110" dirty="0"/>
              <a:t>Económica</a:t>
            </a:r>
            <a:endParaRPr lang="es-PE" dirty="0"/>
          </a:p>
        </p:txBody>
      </p:sp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A8F7E169-E0BA-4530-B1B9-42CF85DF50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1065</Words>
  <Application>Microsoft Office PowerPoint</Application>
  <PresentationFormat>Panorámica</PresentationFormat>
  <Paragraphs>159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Calibri</vt:lpstr>
      <vt:lpstr>Montserrat</vt:lpstr>
      <vt:lpstr>Open Sans</vt:lpstr>
      <vt:lpstr>Tahoma</vt:lpstr>
      <vt:lpstr>ui-sans-serif</vt:lpstr>
      <vt:lpstr>Verdana</vt:lpstr>
      <vt:lpstr>Office Theme</vt:lpstr>
      <vt:lpstr>Presentación de PowerPoint</vt:lpstr>
      <vt:lpstr>Quiénes somos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 Propuesta Económica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CRM  Fiori</dc:title>
  <dc:subject>PptxGenJS Presentation</dc:subject>
  <dc:creator>DROID CONSULTING</dc:creator>
  <cp:keywords>Portal CRM</cp:keywords>
  <cp:lastModifiedBy>Proyecto SAP Regional  - QUI - IBP</cp:lastModifiedBy>
  <cp:revision>25</cp:revision>
  <dcterms:created xsi:type="dcterms:W3CDTF">2026-03-19T23:19:00Z</dcterms:created>
  <dcterms:modified xsi:type="dcterms:W3CDTF">2026-06-03T16:23:08Z</dcterms:modified>
</cp:coreProperties>
</file>